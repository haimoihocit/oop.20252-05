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Lato Bold" charset="1" panose="020F0502020204030203"/>
      <p:regular r:id="rId32"/>
    </p:embeddedFont>
    <p:embeddedFont>
      <p:font typeface="Public Sans Bold" charset="1" panose="00000000000000000000"/>
      <p:regular r:id="rId33"/>
    </p:embeddedFont>
    <p:embeddedFont>
      <p:font typeface="Lato" charset="1" panose="020F0502020204030203"/>
      <p:regular r:id="rId34"/>
    </p:embeddedFont>
    <p:embeddedFont>
      <p:font typeface="Public Sans" charset="1" panose="00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https://drive.google.com/file/d/1mfYjcHDg2fJgbQf9V5Ci76nD3oGNog35/view?usp=drive_link" TargetMode="External" Type="http://schemas.openxmlformats.org/officeDocument/2006/relationships/hyperlink"/><Relationship Id="rId3" Target="../media/image3.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2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https://www.youtube.com/watch?v=3BFZpLS1028" TargetMode="External" Type="http://schemas.openxmlformats.org/officeDocument/2006/relationships/hyperlink"/><Relationship Id="rId4" Target="https://drive.google.com/file/d/1mfYjcHDg2fJgbQf9V5Ci76nD3oGNog35/view?usp=sharing" TargetMode="External" Type="http://schemas.openxmlformats.org/officeDocument/2006/relationships/hyperlink"/></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579949" y="497072"/>
            <a:ext cx="4761547" cy="1429417"/>
            <a:chOff x="0" y="0"/>
            <a:chExt cx="6348730" cy="1905889"/>
          </a:xfrm>
        </p:grpSpPr>
        <p:sp>
          <p:nvSpPr>
            <p:cNvPr name="Freeform 5" id="5"/>
            <p:cNvSpPr/>
            <p:nvPr/>
          </p:nvSpPr>
          <p:spPr>
            <a:xfrm flipH="false" flipV="false" rot="0">
              <a:off x="0" y="0"/>
              <a:ext cx="6348730" cy="1905889"/>
            </a:xfrm>
            <a:custGeom>
              <a:avLst/>
              <a:gdLst/>
              <a:ahLst/>
              <a:cxnLst/>
              <a:rect r="r" b="b" t="t" l="l"/>
              <a:pathLst>
                <a:path h="1905889" w="6348730">
                  <a:moveTo>
                    <a:pt x="0" y="0"/>
                  </a:moveTo>
                  <a:lnTo>
                    <a:pt x="6348730" y="0"/>
                  </a:lnTo>
                  <a:lnTo>
                    <a:pt x="6348730" y="1905889"/>
                  </a:lnTo>
                  <a:lnTo>
                    <a:pt x="0" y="1905889"/>
                  </a:lnTo>
                  <a:lnTo>
                    <a:pt x="0" y="0"/>
                  </a:lnTo>
                  <a:close/>
                </a:path>
              </a:pathLst>
            </a:custGeom>
            <a:blipFill>
              <a:blip r:embed="rId3"/>
              <a:stretch>
                <a:fillRect l="0" t="-106" r="0" b="-105"/>
              </a:stretch>
            </a:blipFill>
          </p:spPr>
        </p:sp>
      </p:grpSp>
      <p:sp>
        <p:nvSpPr>
          <p:cNvPr name="TextBox 6" id="6"/>
          <p:cNvSpPr txBox="true"/>
          <p:nvPr/>
        </p:nvSpPr>
        <p:spPr>
          <a:xfrm rot="0">
            <a:off x="579949" y="3870933"/>
            <a:ext cx="15689049" cy="2247519"/>
          </a:xfrm>
          <a:prstGeom prst="rect">
            <a:avLst/>
          </a:prstGeom>
        </p:spPr>
        <p:txBody>
          <a:bodyPr anchor="t" rtlCol="false" tIns="0" lIns="0" bIns="0" rIns="0">
            <a:spAutoFit/>
          </a:bodyPr>
          <a:lstStyle/>
          <a:p>
            <a:pPr algn="l">
              <a:lnSpc>
                <a:spcPts val="8748"/>
              </a:lnSpc>
            </a:pPr>
            <a:r>
              <a:rPr lang="en-US" sz="8100" b="true">
                <a:solidFill>
                  <a:srgbClr val="C00000"/>
                </a:solidFill>
                <a:latin typeface="Lato Bold"/>
                <a:ea typeface="Lato Bold"/>
                <a:cs typeface="Lato Bold"/>
                <a:sym typeface="Lato Bold"/>
              </a:rPr>
              <a:t>Smart Farm - Crop Growth &amp; Resource Management Simulator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aphicFrame>
        <p:nvGraphicFramePr>
          <p:cNvPr name="Table 4" id="4"/>
          <p:cNvGraphicFramePr>
            <a:graphicFrameLocks noGrp="true"/>
          </p:cNvGraphicFramePr>
          <p:nvPr/>
        </p:nvGraphicFramePr>
        <p:xfrm>
          <a:off x="2382010" y="1747355"/>
          <a:ext cx="13523979" cy="7188843"/>
        </p:xfrm>
        <a:graphic>
          <a:graphicData uri="http://schemas.openxmlformats.org/drawingml/2006/table">
            <a:tbl>
              <a:tblPr/>
              <a:tblGrid>
                <a:gridCol w="4006089"/>
                <a:gridCol w="3293928"/>
                <a:gridCol w="6223961"/>
              </a:tblGrid>
              <a:tr h="1131696">
                <a:tc>
                  <a:txBody>
                    <a:bodyPr anchor="t" rtlCol="false"/>
                    <a:lstStyle/>
                    <a:p>
                      <a:pPr algn="ctr">
                        <a:lnSpc>
                          <a:spcPts val="3359"/>
                        </a:lnSpc>
                        <a:defRPr/>
                      </a:pPr>
                      <a:r>
                        <a:rPr lang="en-US" b="true" sz="2400">
                          <a:solidFill>
                            <a:srgbClr val="1800AD"/>
                          </a:solidFill>
                          <a:latin typeface="Public Sans Bold"/>
                          <a:ea typeface="Public Sans Bold"/>
                          <a:cs typeface="Public Sans Bold"/>
                          <a:sym typeface="Public Sans Bold"/>
                        </a:rPr>
                        <a:t>Member</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c>
                  <a:txBody>
                    <a:bodyPr anchor="t" rtlCol="false"/>
                    <a:lstStyle/>
                    <a:p>
                      <a:pPr algn="ctr">
                        <a:lnSpc>
                          <a:spcPts val="3359"/>
                        </a:lnSpc>
                        <a:defRPr/>
                      </a:pPr>
                      <a:r>
                        <a:rPr lang="en-US" b="true" sz="2400">
                          <a:solidFill>
                            <a:srgbClr val="1800AD"/>
                          </a:solidFill>
                          <a:latin typeface="Lato Bold"/>
                          <a:ea typeface="Lato Bold"/>
                          <a:cs typeface="Lato Bold"/>
                          <a:sym typeface="Lato Bold"/>
                        </a:rPr>
                        <a:t>Contribution level</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c>
                  <a:txBody>
                    <a:bodyPr anchor="t" rtlCol="false"/>
                    <a:lstStyle/>
                    <a:p>
                      <a:pPr algn="ctr">
                        <a:lnSpc>
                          <a:spcPts val="3359"/>
                        </a:lnSpc>
                        <a:defRPr/>
                      </a:pPr>
                      <a:r>
                        <a:rPr lang="en-US" b="true" sz="2400">
                          <a:solidFill>
                            <a:srgbClr val="1800AD"/>
                          </a:solidFill>
                          <a:latin typeface="Lato Bold"/>
                          <a:ea typeface="Lato Bold"/>
                          <a:cs typeface="Lato Bold"/>
                          <a:sym typeface="Lato Bold"/>
                        </a:rPr>
                        <a:t>Individual tasks</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solidFill>
                      <a:srgbClr val="FFCDCD"/>
                    </a:solidFill>
                  </a:tcPr>
                </a:tc>
              </a:tr>
              <a:tr h="1331029">
                <a:tc>
                  <a:txBody>
                    <a:bodyPr anchor="t" rtlCol="false"/>
                    <a:lstStyle/>
                    <a:p>
                      <a:pPr algn="ctr">
                        <a:lnSpc>
                          <a:spcPts val="3359"/>
                        </a:lnSpc>
                        <a:defRPr/>
                      </a:pPr>
                      <a:r>
                        <a:rPr lang="en-US" sz="2400">
                          <a:solidFill>
                            <a:srgbClr val="1800AD"/>
                          </a:solidFill>
                          <a:latin typeface="Lato"/>
                          <a:ea typeface="Lato"/>
                          <a:cs typeface="Lato"/>
                          <a:sym typeface="Lato"/>
                        </a:rPr>
                        <a:t>Nguyễn Quốc Cường</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24%</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Core engine, input, </a:t>
                      </a:r>
                      <a:endParaRPr lang="en-US" sz="1100"/>
                    </a:p>
                    <a:p>
                      <a:pPr algn="ctr">
                        <a:lnSpc>
                          <a:spcPts val="3359"/>
                        </a:lnSpc>
                      </a:pPr>
                      <a:r>
                        <a:rPr lang="en-US" sz="2400">
                          <a:solidFill>
                            <a:srgbClr val="1800AD"/>
                          </a:solidFill>
                          <a:latin typeface="Lato"/>
                          <a:ea typeface="Lato"/>
                          <a:cs typeface="Lato"/>
                          <a:sym typeface="Lato"/>
                        </a:rPr>
                        <a:t>rendering core, integration</a:t>
                      </a:r>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131696">
                <a:tc>
                  <a:txBody>
                    <a:bodyPr anchor="t" rtlCol="false"/>
                    <a:lstStyle/>
                    <a:p>
                      <a:pPr algn="ctr">
                        <a:lnSpc>
                          <a:spcPts val="3359"/>
                        </a:lnSpc>
                        <a:defRPr/>
                      </a:pPr>
                      <a:r>
                        <a:rPr lang="en-US" sz="2400">
                          <a:solidFill>
                            <a:srgbClr val="1800AD"/>
                          </a:solidFill>
                          <a:latin typeface="Lato"/>
                          <a:ea typeface="Lato"/>
                          <a:cs typeface="Lato"/>
                          <a:sym typeface="Lato"/>
                        </a:rPr>
                        <a:t>Trịnh Hoàng Đại Hải</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19%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Controller layer</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131696">
                <a:tc>
                  <a:txBody>
                    <a:bodyPr anchor="t" rtlCol="false"/>
                    <a:lstStyle/>
                    <a:p>
                      <a:pPr algn="ctr">
                        <a:lnSpc>
                          <a:spcPts val="3359"/>
                        </a:lnSpc>
                        <a:defRPr/>
                      </a:pPr>
                      <a:r>
                        <a:rPr lang="en-US" sz="2400">
                          <a:solidFill>
                            <a:srgbClr val="1800AD"/>
                          </a:solidFill>
                          <a:latin typeface="Lato"/>
                          <a:ea typeface="Lato"/>
                          <a:cs typeface="Lato"/>
                          <a:sym typeface="Lato"/>
                        </a:rPr>
                        <a:t>Bùi Minh Hải</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19%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View / rendering layer</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131696">
                <a:tc>
                  <a:txBody>
                    <a:bodyPr anchor="t" rtlCol="false"/>
                    <a:lstStyle/>
                    <a:p>
                      <a:pPr algn="ctr">
                        <a:lnSpc>
                          <a:spcPts val="3359"/>
                        </a:lnSpc>
                        <a:defRPr/>
                      </a:pPr>
                      <a:r>
                        <a:rPr lang="en-US" sz="2400">
                          <a:solidFill>
                            <a:srgbClr val="1800AD"/>
                          </a:solidFill>
                          <a:latin typeface="Lato"/>
                          <a:ea typeface="Lato"/>
                          <a:cs typeface="Lato"/>
                          <a:sym typeface="Lato"/>
                        </a:rPr>
                        <a:t>Lê Anh Đức</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19%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Crop model, catalog and pest</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r h="1331029">
                <a:tc>
                  <a:txBody>
                    <a:bodyPr anchor="t" rtlCol="false"/>
                    <a:lstStyle/>
                    <a:p>
                      <a:pPr algn="ctr">
                        <a:lnSpc>
                          <a:spcPts val="3359"/>
                        </a:lnSpc>
                        <a:defRPr/>
                      </a:pPr>
                      <a:r>
                        <a:rPr lang="en-US" sz="2400">
                          <a:solidFill>
                            <a:srgbClr val="1800AD"/>
                          </a:solidFill>
                          <a:latin typeface="Lato"/>
                          <a:ea typeface="Lato"/>
                          <a:cs typeface="Lato"/>
                          <a:sym typeface="Lato"/>
                        </a:rPr>
                        <a:t>Vũ Nguyễn Trung Kiên</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19%</a:t>
                      </a:r>
                      <a:endParaRPr lang="en-US" sz="1100"/>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c>
                  <a:txBody>
                    <a:bodyPr anchor="t" rtlCol="false"/>
                    <a:lstStyle/>
                    <a:p>
                      <a:pPr algn="ctr">
                        <a:lnSpc>
                          <a:spcPts val="3359"/>
                        </a:lnSpc>
                        <a:defRPr/>
                      </a:pPr>
                      <a:r>
                        <a:rPr lang="en-US" sz="2400">
                          <a:solidFill>
                            <a:srgbClr val="1800AD"/>
                          </a:solidFill>
                          <a:latin typeface="Lato"/>
                          <a:ea typeface="Lato"/>
                          <a:cs typeface="Lato"/>
                          <a:sym typeface="Lato"/>
                        </a:rPr>
                        <a:t>Weather and trigger package </a:t>
                      </a:r>
                      <a:endParaRPr lang="en-US" sz="1100"/>
                    </a:p>
                    <a:p>
                      <a:pPr algn="ctr">
                        <a:lnSpc>
                          <a:spcPts val="3359"/>
                        </a:lnSpc>
                      </a:pPr>
                      <a:r>
                        <a:rPr lang="en-US" sz="2400">
                          <a:solidFill>
                            <a:srgbClr val="1800AD"/>
                          </a:solidFill>
                          <a:latin typeface="Lato"/>
                          <a:ea typeface="Lato"/>
                          <a:cs typeface="Lato"/>
                          <a:sym typeface="Lato"/>
                        </a:rPr>
                        <a:t>and farm grid model</a:t>
                      </a:r>
                    </a:p>
                  </a:txBody>
                  <a:tcPr marL="190500" marR="190500" marT="190500" marB="190500" anchor="ctr">
                    <a:lnL cmpd="sng" algn="ctr" cap="flat" w="38100">
                      <a:solidFill>
                        <a:srgbClr val="FF9999"/>
                      </a:solidFill>
                      <a:prstDash val="solid"/>
                      <a:round/>
                      <a:headEnd type="none" w="med" len="med"/>
                      <a:tailEnd type="none" w="med" len="med"/>
                    </a:lnL>
                    <a:lnR cmpd="sng" algn="ctr" cap="flat" w="38100">
                      <a:solidFill>
                        <a:srgbClr val="FF9999"/>
                      </a:solidFill>
                      <a:prstDash val="solid"/>
                      <a:round/>
                      <a:headEnd type="none" w="med" len="med"/>
                      <a:tailEnd type="none" w="med" len="med"/>
                    </a:lnR>
                    <a:lnT cmpd="sng" algn="ctr" cap="flat" w="38100">
                      <a:solidFill>
                        <a:srgbClr val="FF9999"/>
                      </a:solidFill>
                      <a:prstDash val="solid"/>
                      <a:round/>
                      <a:headEnd type="none" w="med" len="med"/>
                      <a:tailEnd type="none" w="med" len="med"/>
                    </a:lnT>
                    <a:lnB cmpd="sng" algn="ctr" cap="flat" w="38100">
                      <a:solidFill>
                        <a:srgbClr val="FF9999"/>
                      </a:solidFill>
                      <a:prstDash val="solid"/>
                      <a:round/>
                      <a:headEnd type="none" w="med" len="med"/>
                      <a:tailEnd type="none" w="med" len="med"/>
                    </a:lnB>
                  </a:tcPr>
                </a:tc>
              </a:tr>
            </a:tbl>
          </a:graphicData>
        </a:graphic>
      </p:graphicFrame>
      <p:sp>
        <p:nvSpPr>
          <p:cNvPr name="TextBox 5" id="5"/>
          <p:cNvSpPr txBox="true"/>
          <p:nvPr/>
        </p:nvSpPr>
        <p:spPr>
          <a:xfrm rot="0">
            <a:off x="1028700" y="128176"/>
            <a:ext cx="5588556" cy="647675"/>
          </a:xfrm>
          <a:prstGeom prst="rect">
            <a:avLst/>
          </a:prstGeom>
        </p:spPr>
        <p:txBody>
          <a:bodyPr anchor="t" rtlCol="false" tIns="0" lIns="0" bIns="0" rIns="0">
            <a:spAutoFit/>
          </a:bodyPr>
          <a:lstStyle/>
          <a:p>
            <a:pPr algn="just">
              <a:lnSpc>
                <a:spcPts val="5038"/>
              </a:lnSpc>
            </a:pPr>
            <a:r>
              <a:rPr lang="en-US" sz="4198" b="true">
                <a:solidFill>
                  <a:srgbClr val="FFFFFF"/>
                </a:solidFill>
                <a:latin typeface="Lato Bold"/>
                <a:ea typeface="Lato Bold"/>
                <a:cs typeface="Lato Bold"/>
                <a:sym typeface="Lato Bold"/>
              </a:rPr>
              <a:t>M</a:t>
            </a:r>
            <a:r>
              <a:rPr lang="en-US" sz="4198" b="true">
                <a:solidFill>
                  <a:srgbClr val="FFFFFF"/>
                </a:solidFill>
                <a:latin typeface="Lato Bold"/>
                <a:ea typeface="Lato Bold"/>
                <a:cs typeface="Lato Bold"/>
                <a:sym typeface="Lato Bold"/>
              </a:rPr>
              <a:t>embers &amp; assignment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148466"/>
            <a:ext cx="4548426" cy="647675"/>
          </a:xfrm>
          <a:prstGeom prst="rect">
            <a:avLst/>
          </a:prstGeom>
        </p:spPr>
        <p:txBody>
          <a:bodyPr anchor="t" rtlCol="false" tIns="0" lIns="0" bIns="0" rIns="0">
            <a:spAutoFit/>
          </a:bodyPr>
          <a:lstStyle/>
          <a:p>
            <a:pPr algn="just">
              <a:lnSpc>
                <a:spcPts val="5038"/>
              </a:lnSpc>
            </a:pPr>
            <a:r>
              <a:rPr lang="en-US" sz="4198" b="true">
                <a:solidFill>
                  <a:srgbClr val="FFFFFF"/>
                </a:solidFill>
                <a:latin typeface="Lato Bold"/>
                <a:ea typeface="Lato Bold"/>
                <a:cs typeface="Lato Bold"/>
                <a:sym typeface="Lato Bold"/>
              </a:rPr>
              <a:t>Probl</a:t>
            </a:r>
            <a:r>
              <a:rPr lang="en-US" sz="4198" b="true">
                <a:solidFill>
                  <a:srgbClr val="FFFFFF"/>
                </a:solidFill>
                <a:latin typeface="Lato Bold"/>
                <a:ea typeface="Lato Bold"/>
                <a:cs typeface="Lato Bold"/>
                <a:sym typeface="Lato Bold"/>
              </a:rPr>
              <a:t>em statement</a:t>
            </a:r>
          </a:p>
        </p:txBody>
      </p:sp>
      <p:sp>
        <p:nvSpPr>
          <p:cNvPr name="TextBox 5" id="5"/>
          <p:cNvSpPr txBox="true"/>
          <p:nvPr/>
        </p:nvSpPr>
        <p:spPr>
          <a:xfrm rot="0">
            <a:off x="1028700" y="2152330"/>
            <a:ext cx="16230600" cy="5974117"/>
          </a:xfrm>
          <a:prstGeom prst="rect">
            <a:avLst/>
          </a:prstGeom>
        </p:spPr>
        <p:txBody>
          <a:bodyPr anchor="t" rtlCol="false" tIns="0" lIns="0" bIns="0" rIns="0">
            <a:spAutoFit/>
          </a:bodyPr>
          <a:lstStyle/>
          <a:p>
            <a:pPr algn="l">
              <a:lnSpc>
                <a:spcPts val="4798"/>
              </a:lnSpc>
            </a:pPr>
            <a:r>
              <a:rPr lang="en-US" sz="3199">
                <a:solidFill>
                  <a:srgbClr val="1800AD"/>
                </a:solidFill>
                <a:latin typeface="Public Sans"/>
                <a:ea typeface="Public Sans"/>
                <a:cs typeface="Public Sans"/>
                <a:sym typeface="Public Sans"/>
              </a:rPr>
              <a:t>The Smart Farm project was chosen because it provides a practical and visu</a:t>
            </a:r>
            <a:r>
              <a:rPr lang="en-US" sz="3199">
                <a:solidFill>
                  <a:srgbClr val="1800AD"/>
                </a:solidFill>
                <a:latin typeface="Public Sans"/>
                <a:ea typeface="Public Sans"/>
                <a:cs typeface="Public Sans"/>
                <a:sym typeface="Public Sans"/>
              </a:rPr>
              <a:t>al environment for applying core Object-Oriented Programming principles:</a:t>
            </a:r>
          </a:p>
          <a:p>
            <a:pPr algn="l" marL="690670" indent="-345335" lvl="1">
              <a:lnSpc>
                <a:spcPts val="4798"/>
              </a:lnSpc>
              <a:buFont typeface="Arial"/>
              <a:buChar char="•"/>
            </a:pPr>
            <a:r>
              <a:rPr lang="en-US" sz="3199">
                <a:solidFill>
                  <a:srgbClr val="1800AD"/>
                </a:solidFill>
                <a:latin typeface="Public Sans"/>
                <a:ea typeface="Public Sans"/>
                <a:cs typeface="Public Sans"/>
                <a:sym typeface="Public Sans"/>
              </a:rPr>
              <a:t>Uses inheritance to model different crop types.</a:t>
            </a:r>
          </a:p>
          <a:p>
            <a:pPr algn="l" marL="690670" indent="-345335" lvl="1">
              <a:lnSpc>
                <a:spcPts val="4798"/>
              </a:lnSpc>
              <a:buFont typeface="Arial"/>
              <a:buChar char="•"/>
            </a:pPr>
            <a:r>
              <a:rPr lang="en-US" sz="3199">
                <a:solidFill>
                  <a:srgbClr val="1800AD"/>
                </a:solidFill>
                <a:latin typeface="Public Sans"/>
                <a:ea typeface="Public Sans"/>
                <a:cs typeface="Public Sans"/>
                <a:sym typeface="Public Sans"/>
              </a:rPr>
              <a:t>Uses polymorphism to implement various weather behaviors.</a:t>
            </a:r>
          </a:p>
          <a:p>
            <a:pPr algn="l" marL="690670" indent="-345335" lvl="1">
              <a:lnSpc>
                <a:spcPts val="4798"/>
              </a:lnSpc>
              <a:buFont typeface="Arial"/>
              <a:buChar char="•"/>
            </a:pPr>
            <a:r>
              <a:rPr lang="en-US" sz="3199">
                <a:solidFill>
                  <a:srgbClr val="1800AD"/>
                </a:solidFill>
                <a:latin typeface="Public Sans"/>
                <a:ea typeface="Public Sans"/>
                <a:cs typeface="Public Sans"/>
                <a:sym typeface="Public Sans"/>
              </a:rPr>
              <a:t>Ensures encapsulation of farm cells and crop states.</a:t>
            </a:r>
          </a:p>
          <a:p>
            <a:pPr algn="l" marL="690670" indent="-345335" lvl="1">
              <a:lnSpc>
                <a:spcPts val="4798"/>
              </a:lnSpc>
              <a:buFont typeface="Arial"/>
              <a:buChar char="•"/>
            </a:pPr>
            <a:r>
              <a:rPr lang="en-US" sz="3199">
                <a:solidFill>
                  <a:srgbClr val="1800AD"/>
                </a:solidFill>
                <a:latin typeface="Public Sans"/>
                <a:ea typeface="Public Sans"/>
                <a:cs typeface="Public Sans"/>
                <a:sym typeface="Public Sans"/>
              </a:rPr>
              <a:t>Follows the MVC architecture to separate Model, View, and Controller responsibilities.</a:t>
            </a:r>
          </a:p>
          <a:p>
            <a:pPr algn="l" marL="690670" indent="-345335" lvl="1">
              <a:lnSpc>
                <a:spcPts val="4798"/>
              </a:lnSpc>
              <a:buFont typeface="Arial"/>
              <a:buChar char="•"/>
            </a:pPr>
            <a:r>
              <a:rPr lang="en-US" sz="3199">
                <a:solidFill>
                  <a:srgbClr val="1800AD"/>
                </a:solidFill>
                <a:latin typeface="Public Sans"/>
                <a:ea typeface="Public Sans"/>
                <a:cs typeface="Public Sans"/>
                <a:sym typeface="Public Sans"/>
              </a:rPr>
              <a:t>Includes a custom rendering engine built directly on Java AWT Canvas.</a:t>
            </a:r>
          </a:p>
          <a:p>
            <a:pPr algn="l" marL="690670" indent="-345335" lvl="1">
              <a:lnSpc>
                <a:spcPts val="4798"/>
              </a:lnSpc>
              <a:buFont typeface="Arial"/>
              <a:buChar char="•"/>
            </a:pPr>
            <a:r>
              <a:rPr lang="en-US" sz="3199">
                <a:solidFill>
                  <a:srgbClr val="1800AD"/>
                </a:solidFill>
                <a:latin typeface="Public Sans"/>
                <a:ea typeface="Public Sans"/>
                <a:cs typeface="Public Sans"/>
                <a:sym typeface="Public Sans"/>
              </a:rPr>
              <a:t>Does not rely on any external game engine, providing deeper understanding of software design and implementation.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3282452" y="1434328"/>
            <a:ext cx="11723096" cy="7590705"/>
          </a:xfrm>
          <a:custGeom>
            <a:avLst/>
            <a:gdLst/>
            <a:ahLst/>
            <a:cxnLst/>
            <a:rect r="r" b="b" t="t" l="l"/>
            <a:pathLst>
              <a:path h="7590705" w="11723096">
                <a:moveTo>
                  <a:pt x="0" y="0"/>
                </a:moveTo>
                <a:lnTo>
                  <a:pt x="11723096" y="0"/>
                </a:lnTo>
                <a:lnTo>
                  <a:pt x="11723096" y="7590705"/>
                </a:lnTo>
                <a:lnTo>
                  <a:pt x="0" y="7590705"/>
                </a:lnTo>
                <a:lnTo>
                  <a:pt x="0" y="0"/>
                </a:lnTo>
                <a:close/>
              </a:path>
            </a:pathLst>
          </a:custGeom>
          <a:blipFill>
            <a:blip r:embed="rId3"/>
            <a:stretch>
              <a:fillRect l="0" t="0" r="0" b="0"/>
            </a:stretch>
          </a:blipFill>
        </p:spPr>
      </p:sp>
      <p:sp>
        <p:nvSpPr>
          <p:cNvPr name="TextBox 5" id="5"/>
          <p:cNvSpPr txBox="true"/>
          <p:nvPr/>
        </p:nvSpPr>
        <p:spPr>
          <a:xfrm rot="0">
            <a:off x="1028700" y="148466"/>
            <a:ext cx="3997523" cy="1285862"/>
          </a:xfrm>
          <a:prstGeom prst="rect">
            <a:avLst/>
          </a:prstGeom>
        </p:spPr>
        <p:txBody>
          <a:bodyPr anchor="t" rtlCol="false" tIns="0" lIns="0" bIns="0" rIns="0">
            <a:spAutoFit/>
          </a:bodyPr>
          <a:lstStyle/>
          <a:p>
            <a:pPr algn="just">
              <a:lnSpc>
                <a:spcPts val="5038"/>
              </a:lnSpc>
            </a:pPr>
            <a:r>
              <a:rPr lang="en-US" sz="4199" b="true">
                <a:solidFill>
                  <a:srgbClr val="FFFFFF"/>
                </a:solidFill>
                <a:latin typeface="Lato Bold"/>
                <a:ea typeface="Lato Bold"/>
                <a:cs typeface="Lato Bold"/>
                <a:sym typeface="Lato Bold"/>
              </a:rPr>
              <a:t>Usecase diagram</a:t>
            </a:r>
          </a:p>
          <a:p>
            <a:pPr algn="just">
              <a:lnSpc>
                <a:spcPts val="5038"/>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a:hlinkClick r:id="rId2" tooltip="https://drive.google.com/file/d/1mfYjcHDg2fJgbQf9V5Ci76nD3oGNog35/view?usp=drive_link"/>
            </p:cNvPr>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1273555" y="2177326"/>
            <a:ext cx="15740890" cy="5932348"/>
          </a:xfrm>
          <a:custGeom>
            <a:avLst/>
            <a:gdLst/>
            <a:ahLst/>
            <a:cxnLst/>
            <a:rect r="r" b="b" t="t" l="l"/>
            <a:pathLst>
              <a:path h="5932348" w="15740890">
                <a:moveTo>
                  <a:pt x="0" y="0"/>
                </a:moveTo>
                <a:lnTo>
                  <a:pt x="15740890" y="0"/>
                </a:lnTo>
                <a:lnTo>
                  <a:pt x="15740890" y="5932348"/>
                </a:lnTo>
                <a:lnTo>
                  <a:pt x="0" y="5932348"/>
                </a:lnTo>
                <a:lnTo>
                  <a:pt x="0" y="0"/>
                </a:lnTo>
                <a:close/>
              </a:path>
            </a:pathLst>
          </a:custGeom>
          <a:blipFill>
            <a:blip r:embed="rId4"/>
            <a:stretch>
              <a:fillRect l="0" t="0" r="0" b="0"/>
            </a:stretch>
          </a:blipFill>
        </p:spPr>
      </p:sp>
      <p:sp>
        <p:nvSpPr>
          <p:cNvPr name="TextBox 5" id="5"/>
          <p:cNvSpPr txBox="true"/>
          <p:nvPr/>
        </p:nvSpPr>
        <p:spPr>
          <a:xfrm rot="0">
            <a:off x="515884" y="148466"/>
            <a:ext cx="5153859"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General class diagram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5618158" y="1463560"/>
            <a:ext cx="7051684" cy="7359879"/>
          </a:xfrm>
          <a:custGeom>
            <a:avLst/>
            <a:gdLst/>
            <a:ahLst/>
            <a:cxnLst/>
            <a:rect r="r" b="b" t="t" l="l"/>
            <a:pathLst>
              <a:path h="7359879" w="7051684">
                <a:moveTo>
                  <a:pt x="0" y="0"/>
                </a:moveTo>
                <a:lnTo>
                  <a:pt x="7051684" y="0"/>
                </a:lnTo>
                <a:lnTo>
                  <a:pt x="7051684" y="7359880"/>
                </a:lnTo>
                <a:lnTo>
                  <a:pt x="0" y="7359880"/>
                </a:lnTo>
                <a:lnTo>
                  <a:pt x="0" y="0"/>
                </a:lnTo>
                <a:close/>
              </a:path>
            </a:pathLst>
          </a:custGeom>
          <a:blipFill>
            <a:blip r:embed="rId3"/>
            <a:stretch>
              <a:fillRect l="0" t="0" r="0" b="0"/>
            </a:stretch>
          </a:blipFill>
        </p:spPr>
      </p:sp>
      <p:sp>
        <p:nvSpPr>
          <p:cNvPr name="TextBox 5" id="5"/>
          <p:cNvSpPr txBox="true"/>
          <p:nvPr/>
        </p:nvSpPr>
        <p:spPr>
          <a:xfrm rot="0">
            <a:off x="1028700" y="148466"/>
            <a:ext cx="10226993"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Class diagrams for Core Game Architecture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3629759" y="1366245"/>
            <a:ext cx="11028482" cy="7554510"/>
          </a:xfrm>
          <a:custGeom>
            <a:avLst/>
            <a:gdLst/>
            <a:ahLst/>
            <a:cxnLst/>
            <a:rect r="r" b="b" t="t" l="l"/>
            <a:pathLst>
              <a:path h="7554510" w="11028482">
                <a:moveTo>
                  <a:pt x="0" y="0"/>
                </a:moveTo>
                <a:lnTo>
                  <a:pt x="11028482" y="0"/>
                </a:lnTo>
                <a:lnTo>
                  <a:pt x="11028482" y="7554510"/>
                </a:lnTo>
                <a:lnTo>
                  <a:pt x="0" y="7554510"/>
                </a:lnTo>
                <a:lnTo>
                  <a:pt x="0" y="0"/>
                </a:lnTo>
                <a:close/>
              </a:path>
            </a:pathLst>
          </a:custGeom>
          <a:blipFill>
            <a:blip r:embed="rId3"/>
            <a:stretch>
              <a:fillRect l="0" t="0" r="0" b="0"/>
            </a:stretch>
          </a:blipFill>
        </p:spPr>
      </p:sp>
      <p:sp>
        <p:nvSpPr>
          <p:cNvPr name="TextBox 5" id="5"/>
          <p:cNvSpPr txBox="true"/>
          <p:nvPr/>
        </p:nvSpPr>
        <p:spPr>
          <a:xfrm rot="0">
            <a:off x="1028700" y="148466"/>
            <a:ext cx="8849083"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Class diagrams for controller package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3286924" y="1643897"/>
            <a:ext cx="11714151" cy="6999205"/>
          </a:xfrm>
          <a:custGeom>
            <a:avLst/>
            <a:gdLst/>
            <a:ahLst/>
            <a:cxnLst/>
            <a:rect r="r" b="b" t="t" l="l"/>
            <a:pathLst>
              <a:path h="6999205" w="11714151">
                <a:moveTo>
                  <a:pt x="0" y="0"/>
                </a:moveTo>
                <a:lnTo>
                  <a:pt x="11714152" y="0"/>
                </a:lnTo>
                <a:lnTo>
                  <a:pt x="11714152" y="6999206"/>
                </a:lnTo>
                <a:lnTo>
                  <a:pt x="0" y="6999206"/>
                </a:lnTo>
                <a:lnTo>
                  <a:pt x="0" y="0"/>
                </a:lnTo>
                <a:close/>
              </a:path>
            </a:pathLst>
          </a:custGeom>
          <a:blipFill>
            <a:blip r:embed="rId3"/>
            <a:stretch>
              <a:fillRect l="0" t="0" r="0" b="0"/>
            </a:stretch>
          </a:blipFill>
        </p:spPr>
      </p:sp>
      <p:sp>
        <p:nvSpPr>
          <p:cNvPr name="TextBox 5" id="5"/>
          <p:cNvSpPr txBox="true"/>
          <p:nvPr/>
        </p:nvSpPr>
        <p:spPr>
          <a:xfrm rot="0">
            <a:off x="1028700" y="148466"/>
            <a:ext cx="8005406"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Class diagrams for model package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2390651" y="1859684"/>
            <a:ext cx="13506699" cy="6567632"/>
          </a:xfrm>
          <a:custGeom>
            <a:avLst/>
            <a:gdLst/>
            <a:ahLst/>
            <a:cxnLst/>
            <a:rect r="r" b="b" t="t" l="l"/>
            <a:pathLst>
              <a:path h="6567632" w="13506699">
                <a:moveTo>
                  <a:pt x="0" y="0"/>
                </a:moveTo>
                <a:lnTo>
                  <a:pt x="13506698" y="0"/>
                </a:lnTo>
                <a:lnTo>
                  <a:pt x="13506698" y="6567632"/>
                </a:lnTo>
                <a:lnTo>
                  <a:pt x="0" y="6567632"/>
                </a:lnTo>
                <a:lnTo>
                  <a:pt x="0" y="0"/>
                </a:lnTo>
                <a:close/>
              </a:path>
            </a:pathLst>
          </a:custGeom>
          <a:blipFill>
            <a:blip r:embed="rId3"/>
            <a:stretch>
              <a:fillRect l="0" t="0" r="0" b="0"/>
            </a:stretch>
          </a:blipFill>
        </p:spPr>
      </p:sp>
      <p:sp>
        <p:nvSpPr>
          <p:cNvPr name="TextBox 5" id="5"/>
          <p:cNvSpPr txBox="true"/>
          <p:nvPr/>
        </p:nvSpPr>
        <p:spPr>
          <a:xfrm rot="0">
            <a:off x="1028700" y="148466"/>
            <a:ext cx="7770852"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Class diagrams for input package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928031" y="2505161"/>
            <a:ext cx="14431939" cy="5276678"/>
          </a:xfrm>
          <a:custGeom>
            <a:avLst/>
            <a:gdLst/>
            <a:ahLst/>
            <a:cxnLst/>
            <a:rect r="r" b="b" t="t" l="l"/>
            <a:pathLst>
              <a:path h="5276678" w="14431939">
                <a:moveTo>
                  <a:pt x="0" y="0"/>
                </a:moveTo>
                <a:lnTo>
                  <a:pt x="14431938" y="0"/>
                </a:lnTo>
                <a:lnTo>
                  <a:pt x="14431938" y="5276678"/>
                </a:lnTo>
                <a:lnTo>
                  <a:pt x="0" y="5276678"/>
                </a:lnTo>
                <a:lnTo>
                  <a:pt x="0" y="0"/>
                </a:lnTo>
                <a:close/>
              </a:path>
            </a:pathLst>
          </a:custGeom>
          <a:blipFill>
            <a:blip r:embed="rId3"/>
            <a:stretch>
              <a:fillRect l="0" t="0" r="0" b="0"/>
            </a:stretch>
          </a:blipFill>
        </p:spPr>
      </p:sp>
      <p:sp>
        <p:nvSpPr>
          <p:cNvPr name="TextBox 5" id="5"/>
          <p:cNvSpPr txBox="true"/>
          <p:nvPr/>
        </p:nvSpPr>
        <p:spPr>
          <a:xfrm rot="0">
            <a:off x="1028700" y="148466"/>
            <a:ext cx="7662267"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Class diagrams for view package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2601885" y="1492182"/>
            <a:ext cx="13084230" cy="7302636"/>
          </a:xfrm>
          <a:custGeom>
            <a:avLst/>
            <a:gdLst/>
            <a:ahLst/>
            <a:cxnLst/>
            <a:rect r="r" b="b" t="t" l="l"/>
            <a:pathLst>
              <a:path h="7302636" w="13084230">
                <a:moveTo>
                  <a:pt x="0" y="0"/>
                </a:moveTo>
                <a:lnTo>
                  <a:pt x="13084230" y="0"/>
                </a:lnTo>
                <a:lnTo>
                  <a:pt x="13084230" y="7302636"/>
                </a:lnTo>
                <a:lnTo>
                  <a:pt x="0" y="7302636"/>
                </a:lnTo>
                <a:lnTo>
                  <a:pt x="0" y="0"/>
                </a:lnTo>
                <a:close/>
              </a:path>
            </a:pathLst>
          </a:custGeom>
          <a:blipFill>
            <a:blip r:embed="rId3"/>
            <a:stretch>
              <a:fillRect l="0" t="0" r="0" b="0"/>
            </a:stretch>
          </a:blipFill>
        </p:spPr>
      </p:sp>
      <p:sp>
        <p:nvSpPr>
          <p:cNvPr name="TextBox 5" id="5"/>
          <p:cNvSpPr txBox="true"/>
          <p:nvPr/>
        </p:nvSpPr>
        <p:spPr>
          <a:xfrm rot="0">
            <a:off x="1028700" y="148466"/>
            <a:ext cx="8514159"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Class diagrams for graphics package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028700" y="2023593"/>
            <a:ext cx="7317191" cy="3119907"/>
          </a:xfrm>
          <a:custGeom>
            <a:avLst/>
            <a:gdLst/>
            <a:ahLst/>
            <a:cxnLst/>
            <a:rect r="r" b="b" t="t" l="l"/>
            <a:pathLst>
              <a:path h="3119907" w="7317191">
                <a:moveTo>
                  <a:pt x="0" y="0"/>
                </a:moveTo>
                <a:lnTo>
                  <a:pt x="7317191" y="0"/>
                </a:lnTo>
                <a:lnTo>
                  <a:pt x="7317191" y="3119907"/>
                </a:lnTo>
                <a:lnTo>
                  <a:pt x="0" y="3119907"/>
                </a:lnTo>
                <a:lnTo>
                  <a:pt x="0" y="0"/>
                </a:lnTo>
                <a:close/>
              </a:path>
            </a:pathLst>
          </a:custGeom>
          <a:blipFill>
            <a:blip r:embed="rId3"/>
            <a:stretch>
              <a:fillRect l="0" t="0" r="0" b="0"/>
            </a:stretch>
          </a:blipFill>
          <a:ln w="19050" cap="sq">
            <a:solidFill>
              <a:srgbClr val="000000"/>
            </a:solidFill>
            <a:prstDash val="solid"/>
            <a:miter/>
          </a:ln>
        </p:spPr>
      </p:sp>
      <p:sp>
        <p:nvSpPr>
          <p:cNvPr name="Freeform 5" id="5"/>
          <p:cNvSpPr/>
          <p:nvPr/>
        </p:nvSpPr>
        <p:spPr>
          <a:xfrm flipH="false" flipV="false" rot="0">
            <a:off x="9763753" y="2023593"/>
            <a:ext cx="7496975" cy="3119907"/>
          </a:xfrm>
          <a:custGeom>
            <a:avLst/>
            <a:gdLst/>
            <a:ahLst/>
            <a:cxnLst/>
            <a:rect r="r" b="b" t="t" l="l"/>
            <a:pathLst>
              <a:path h="3119907" w="7496975">
                <a:moveTo>
                  <a:pt x="0" y="0"/>
                </a:moveTo>
                <a:lnTo>
                  <a:pt x="7496975" y="0"/>
                </a:lnTo>
                <a:lnTo>
                  <a:pt x="7496975" y="3119907"/>
                </a:lnTo>
                <a:lnTo>
                  <a:pt x="0" y="3119907"/>
                </a:lnTo>
                <a:lnTo>
                  <a:pt x="0" y="0"/>
                </a:lnTo>
                <a:close/>
              </a:path>
            </a:pathLst>
          </a:custGeom>
          <a:blipFill>
            <a:blip r:embed="rId4"/>
            <a:stretch>
              <a:fillRect l="0" t="0" r="0" b="0"/>
            </a:stretch>
          </a:blipFill>
          <a:ln w="19050" cap="sq">
            <a:solidFill>
              <a:srgbClr val="000000"/>
            </a:solidFill>
            <a:prstDash val="solid"/>
            <a:miter/>
          </a:ln>
        </p:spPr>
      </p:sp>
      <p:sp>
        <p:nvSpPr>
          <p:cNvPr name="TextBox 6" id="6"/>
          <p:cNvSpPr txBox="true"/>
          <p:nvPr/>
        </p:nvSpPr>
        <p:spPr>
          <a:xfrm rot="0">
            <a:off x="1028700" y="148466"/>
            <a:ext cx="6673691"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Abstraction</a:t>
            </a:r>
          </a:p>
        </p:txBody>
      </p:sp>
      <p:sp>
        <p:nvSpPr>
          <p:cNvPr name="TextBox 7" id="7"/>
          <p:cNvSpPr txBox="true"/>
          <p:nvPr/>
        </p:nvSpPr>
        <p:spPr>
          <a:xfrm rot="0">
            <a:off x="1028700" y="5825027"/>
            <a:ext cx="7100301" cy="2438380"/>
          </a:xfrm>
          <a:prstGeom prst="rect">
            <a:avLst/>
          </a:prstGeom>
        </p:spPr>
        <p:txBody>
          <a:bodyPr anchor="t" rtlCol="false" tIns="0" lIns="0" bIns="0" rIns="0">
            <a:spAutoFit/>
          </a:bodyPr>
          <a:lstStyle/>
          <a:p>
            <a:pPr algn="l" marL="690881" indent="-345440" lvl="1">
              <a:lnSpc>
                <a:spcPts val="3840"/>
              </a:lnSpc>
              <a:spcBef>
                <a:spcPct val="0"/>
              </a:spcBef>
              <a:buFont typeface="Arial"/>
              <a:buChar char="•"/>
            </a:pPr>
            <a:r>
              <a:rPr lang="en-US" b="true" sz="3200">
                <a:solidFill>
                  <a:srgbClr val="1800AD"/>
                </a:solidFill>
                <a:latin typeface="Public Sans Bold"/>
                <a:ea typeface="Public Sans Bold"/>
                <a:cs typeface="Public Sans Bold"/>
                <a:sym typeface="Public Sans Bold"/>
              </a:rPr>
              <a:t>H</a:t>
            </a:r>
            <a:r>
              <a:rPr lang="en-US" b="true" sz="3200">
                <a:solidFill>
                  <a:srgbClr val="1800AD"/>
                </a:solidFill>
                <a:latin typeface="Public Sans Bold"/>
                <a:ea typeface="Public Sans Bold"/>
                <a:cs typeface="Public Sans Bold"/>
                <a:sym typeface="Public Sans Bold"/>
              </a:rPr>
              <a:t>igh-Level Design: </a:t>
            </a:r>
            <a:r>
              <a:rPr lang="en-US" sz="3200">
                <a:solidFill>
                  <a:srgbClr val="1800AD"/>
                </a:solidFill>
                <a:latin typeface="Public Sans"/>
                <a:ea typeface="Public Sans"/>
                <a:cs typeface="Public Sans"/>
                <a:sym typeface="Public Sans"/>
              </a:rPr>
              <a:t>The abstract </a:t>
            </a:r>
            <a:r>
              <a:rPr lang="en-US" b="true" sz="3200">
                <a:solidFill>
                  <a:srgbClr val="1800AD"/>
                </a:solidFill>
                <a:latin typeface="Public Sans Bold"/>
                <a:ea typeface="Public Sans Bold"/>
                <a:cs typeface="Public Sans Bold"/>
                <a:sym typeface="Public Sans Bold"/>
              </a:rPr>
              <a:t>Crop </a:t>
            </a:r>
            <a:r>
              <a:rPr lang="en-US" sz="3200">
                <a:solidFill>
                  <a:srgbClr val="1800AD"/>
                </a:solidFill>
                <a:latin typeface="Public Sans"/>
                <a:ea typeface="Public Sans"/>
                <a:cs typeface="Public Sans"/>
                <a:sym typeface="Public Sans"/>
              </a:rPr>
              <a:t>class defines the common lifecycle (growth, consumption, survival) while hiding specific crop implementations.</a:t>
            </a:r>
          </a:p>
        </p:txBody>
      </p:sp>
      <p:sp>
        <p:nvSpPr>
          <p:cNvPr name="TextBox 8" id="8"/>
          <p:cNvSpPr txBox="true"/>
          <p:nvPr/>
        </p:nvSpPr>
        <p:spPr>
          <a:xfrm rot="0">
            <a:off x="9763753" y="5825027"/>
            <a:ext cx="7495547" cy="2438380"/>
          </a:xfrm>
          <a:prstGeom prst="rect">
            <a:avLst/>
          </a:prstGeom>
        </p:spPr>
        <p:txBody>
          <a:bodyPr anchor="t" rtlCol="false" tIns="0" lIns="0" bIns="0" rIns="0">
            <a:spAutoFit/>
          </a:bodyPr>
          <a:lstStyle/>
          <a:p>
            <a:pPr algn="l" marL="691949" indent="-345975" lvl="1">
              <a:lnSpc>
                <a:spcPts val="3846"/>
              </a:lnSpc>
              <a:spcBef>
                <a:spcPct val="0"/>
              </a:spcBef>
              <a:buFont typeface="Arial"/>
              <a:buChar char="•"/>
            </a:pPr>
            <a:r>
              <a:rPr lang="en-US" b="true" sz="3204">
                <a:solidFill>
                  <a:srgbClr val="1800AD"/>
                </a:solidFill>
                <a:latin typeface="Public Sans Bold"/>
                <a:ea typeface="Public Sans Bold"/>
                <a:cs typeface="Public Sans Bold"/>
                <a:sym typeface="Public Sans Bold"/>
              </a:rPr>
              <a:t>Shared Behav</a:t>
            </a:r>
            <a:r>
              <a:rPr lang="en-US" b="true" sz="3204">
                <a:solidFill>
                  <a:srgbClr val="1800AD"/>
                </a:solidFill>
                <a:latin typeface="Public Sans Bold"/>
                <a:ea typeface="Public Sans Bold"/>
                <a:cs typeface="Public Sans Bold"/>
                <a:sym typeface="Public Sans Bold"/>
              </a:rPr>
              <a:t>iors: BaseWeather </a:t>
            </a:r>
            <a:r>
              <a:rPr lang="en-US" sz="3204">
                <a:solidFill>
                  <a:srgbClr val="1800AD"/>
                </a:solidFill>
                <a:latin typeface="Public Sans"/>
                <a:ea typeface="Public Sans"/>
                <a:cs typeface="Public Sans"/>
                <a:sym typeface="Public Sans"/>
              </a:rPr>
              <a:t>implements the </a:t>
            </a:r>
            <a:r>
              <a:rPr lang="en-US" b="true" sz="3204">
                <a:solidFill>
                  <a:srgbClr val="1800AD"/>
                </a:solidFill>
                <a:latin typeface="Public Sans Bold"/>
                <a:ea typeface="Public Sans Bold"/>
                <a:cs typeface="Public Sans Bold"/>
                <a:sym typeface="Public Sans Bold"/>
              </a:rPr>
              <a:t>Weather </a:t>
            </a:r>
            <a:r>
              <a:rPr lang="en-US" sz="3204">
                <a:solidFill>
                  <a:srgbClr val="1800AD"/>
                </a:solidFill>
                <a:latin typeface="Public Sans"/>
                <a:ea typeface="Public Sans"/>
                <a:cs typeface="Public Sans"/>
                <a:sym typeface="Public Sans"/>
              </a:rPr>
              <a:t>interface, providing shared logic while deferring specific effects to subclasses.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9844448" y="1621245"/>
            <a:ext cx="7186147" cy="4129879"/>
          </a:xfrm>
          <a:custGeom>
            <a:avLst/>
            <a:gdLst/>
            <a:ahLst/>
            <a:cxnLst/>
            <a:rect r="r" b="b" t="t" l="l"/>
            <a:pathLst>
              <a:path h="4129879" w="7186147">
                <a:moveTo>
                  <a:pt x="0" y="0"/>
                </a:moveTo>
                <a:lnTo>
                  <a:pt x="7186147" y="0"/>
                </a:lnTo>
                <a:lnTo>
                  <a:pt x="7186147" y="4129880"/>
                </a:lnTo>
                <a:lnTo>
                  <a:pt x="0" y="4129880"/>
                </a:lnTo>
                <a:lnTo>
                  <a:pt x="0" y="0"/>
                </a:lnTo>
                <a:close/>
              </a:path>
            </a:pathLst>
          </a:custGeom>
          <a:blipFill>
            <a:blip r:embed="rId3"/>
            <a:stretch>
              <a:fillRect l="0" t="0" r="0" b="0"/>
            </a:stretch>
          </a:blipFill>
          <a:ln w="19050" cap="sq">
            <a:solidFill>
              <a:srgbClr val="000000"/>
            </a:solidFill>
            <a:prstDash val="solid"/>
            <a:miter/>
          </a:ln>
        </p:spPr>
      </p:sp>
      <p:sp>
        <p:nvSpPr>
          <p:cNvPr name="TextBox 5" id="5"/>
          <p:cNvSpPr txBox="true"/>
          <p:nvPr/>
        </p:nvSpPr>
        <p:spPr>
          <a:xfrm rot="0">
            <a:off x="1028700" y="148466"/>
            <a:ext cx="6673691"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Abstraction</a:t>
            </a:r>
          </a:p>
        </p:txBody>
      </p:sp>
      <p:sp>
        <p:nvSpPr>
          <p:cNvPr name="TextBox 6" id="6"/>
          <p:cNvSpPr txBox="true"/>
          <p:nvPr/>
        </p:nvSpPr>
        <p:spPr>
          <a:xfrm rot="0">
            <a:off x="1028700" y="2705120"/>
            <a:ext cx="8115300" cy="1952605"/>
          </a:xfrm>
          <a:prstGeom prst="rect">
            <a:avLst/>
          </a:prstGeom>
        </p:spPr>
        <p:txBody>
          <a:bodyPr anchor="t" rtlCol="false" tIns="0" lIns="0" bIns="0" rIns="0">
            <a:spAutoFit/>
          </a:bodyPr>
          <a:lstStyle/>
          <a:p>
            <a:pPr algn="l" marL="690881" indent="-345440" lvl="1">
              <a:lnSpc>
                <a:spcPts val="3840"/>
              </a:lnSpc>
              <a:buFont typeface="Arial"/>
              <a:buChar char="•"/>
            </a:pPr>
            <a:r>
              <a:rPr lang="en-US" sz="3200">
                <a:solidFill>
                  <a:srgbClr val="1800AD"/>
                </a:solidFill>
                <a:latin typeface="Public Sans"/>
                <a:ea typeface="Public Sans"/>
                <a:cs typeface="Public Sans"/>
                <a:sym typeface="Public Sans"/>
              </a:rPr>
              <a:t>Cl</a:t>
            </a:r>
            <a:r>
              <a:rPr lang="en-US" sz="3200">
                <a:solidFill>
                  <a:srgbClr val="1800AD"/>
                </a:solidFill>
                <a:latin typeface="Public Sans"/>
                <a:ea typeface="Public Sans"/>
                <a:cs typeface="Public Sans"/>
                <a:sym typeface="Public Sans"/>
              </a:rPr>
              <a:t>ient classes (</a:t>
            </a:r>
            <a:r>
              <a:rPr lang="en-US" b="true" sz="3200">
                <a:solidFill>
                  <a:srgbClr val="1800AD"/>
                </a:solidFill>
                <a:latin typeface="Public Sans Bold"/>
                <a:ea typeface="Public Sans Bold"/>
                <a:cs typeface="Public Sans Bold"/>
                <a:sym typeface="Public Sans Bold"/>
              </a:rPr>
              <a:t>FarmCell</a:t>
            </a:r>
            <a:r>
              <a:rPr lang="en-US" sz="3200">
                <a:solidFill>
                  <a:srgbClr val="1800AD"/>
                </a:solidFill>
                <a:latin typeface="Public Sans"/>
                <a:ea typeface="Public Sans"/>
                <a:cs typeface="Public Sans"/>
                <a:sym typeface="Public Sans"/>
              </a:rPr>
              <a:t>, </a:t>
            </a:r>
            <a:r>
              <a:rPr lang="en-US" b="true" sz="3200">
                <a:solidFill>
                  <a:srgbClr val="1800AD"/>
                </a:solidFill>
                <a:latin typeface="Public Sans Bold"/>
                <a:ea typeface="Public Sans Bold"/>
                <a:cs typeface="Public Sans Bold"/>
                <a:sym typeface="Public Sans Bold"/>
              </a:rPr>
              <a:t>FarmGrid</a:t>
            </a:r>
            <a:r>
              <a:rPr lang="en-US" sz="3200">
                <a:solidFill>
                  <a:srgbClr val="1800AD"/>
                </a:solidFill>
                <a:latin typeface="Public Sans"/>
                <a:ea typeface="Public Sans"/>
                <a:cs typeface="Public Sans"/>
                <a:sym typeface="Public Sans"/>
              </a:rPr>
              <a:t>, </a:t>
            </a:r>
            <a:r>
              <a:rPr lang="en-US" b="true" sz="3200">
                <a:solidFill>
                  <a:srgbClr val="1800AD"/>
                </a:solidFill>
                <a:latin typeface="Public Sans Bold"/>
                <a:ea typeface="Public Sans Bold"/>
                <a:cs typeface="Public Sans Bold"/>
                <a:sym typeface="Public Sans Bold"/>
              </a:rPr>
              <a:t>GameController</a:t>
            </a:r>
            <a:r>
              <a:rPr lang="en-US" sz="3200">
                <a:solidFill>
                  <a:srgbClr val="1800AD"/>
                </a:solidFill>
                <a:latin typeface="Public Sans"/>
                <a:ea typeface="Public Sans"/>
                <a:cs typeface="Public Sans"/>
                <a:sym typeface="Public Sans"/>
              </a:rPr>
              <a:t>) interact strictly via abstract types (</a:t>
            </a:r>
            <a:r>
              <a:rPr lang="en-US" b="true" sz="3200">
                <a:solidFill>
                  <a:srgbClr val="1800AD"/>
                </a:solidFill>
                <a:latin typeface="Public Sans Bold"/>
                <a:ea typeface="Public Sans Bold"/>
                <a:cs typeface="Public Sans Bold"/>
                <a:sym typeface="Public Sans Bold"/>
              </a:rPr>
              <a:t>Crop</a:t>
            </a:r>
            <a:r>
              <a:rPr lang="en-US" sz="3200">
                <a:solidFill>
                  <a:srgbClr val="1800AD"/>
                </a:solidFill>
                <a:latin typeface="Public Sans"/>
                <a:ea typeface="Public Sans"/>
                <a:cs typeface="Public Sans"/>
                <a:sym typeface="Public Sans"/>
              </a:rPr>
              <a:t>, </a:t>
            </a:r>
            <a:r>
              <a:rPr lang="en-US" b="true" sz="3200">
                <a:solidFill>
                  <a:srgbClr val="1800AD"/>
                </a:solidFill>
                <a:latin typeface="Public Sans Bold"/>
                <a:ea typeface="Public Sans Bold"/>
                <a:cs typeface="Public Sans Bold"/>
                <a:sym typeface="Public Sans Bold"/>
              </a:rPr>
              <a:t>Weather</a:t>
            </a:r>
            <a:r>
              <a:rPr lang="en-US" sz="3200">
                <a:solidFill>
                  <a:srgbClr val="1800AD"/>
                </a:solidFill>
                <a:latin typeface="Public Sans"/>
                <a:ea typeface="Public Sans"/>
                <a:cs typeface="Public Sans"/>
                <a:sym typeface="Public Sans"/>
              </a:rPr>
              <a:t>) rather than concrete classes.</a:t>
            </a:r>
          </a:p>
        </p:txBody>
      </p:sp>
      <p:sp>
        <p:nvSpPr>
          <p:cNvPr name="TextBox 7" id="7"/>
          <p:cNvSpPr txBox="true"/>
          <p:nvPr/>
        </p:nvSpPr>
        <p:spPr>
          <a:xfrm rot="0">
            <a:off x="1028700" y="6398129"/>
            <a:ext cx="16230600" cy="1952605"/>
          </a:xfrm>
          <a:prstGeom prst="rect">
            <a:avLst/>
          </a:prstGeom>
        </p:spPr>
        <p:txBody>
          <a:bodyPr anchor="t" rtlCol="false" tIns="0" lIns="0" bIns="0" rIns="0">
            <a:spAutoFit/>
          </a:bodyPr>
          <a:lstStyle/>
          <a:p>
            <a:pPr algn="l" marL="690881" indent="-345440" lvl="1">
              <a:lnSpc>
                <a:spcPts val="3840"/>
              </a:lnSpc>
              <a:spcBef>
                <a:spcPct val="0"/>
              </a:spcBef>
              <a:buFont typeface="Arial"/>
              <a:buChar char="•"/>
            </a:pPr>
            <a:r>
              <a:rPr lang="en-US" sz="3200">
                <a:solidFill>
                  <a:srgbClr val="1800AD"/>
                </a:solidFill>
                <a:latin typeface="Public Sans"/>
                <a:ea typeface="Public Sans"/>
                <a:cs typeface="Public Sans"/>
                <a:sym typeface="Public Sans"/>
              </a:rPr>
              <a:t>For example, t</a:t>
            </a:r>
            <a:r>
              <a:rPr lang="en-US" sz="3200">
                <a:solidFill>
                  <a:srgbClr val="1800AD"/>
                </a:solidFill>
                <a:latin typeface="Public Sans"/>
                <a:ea typeface="Public Sans"/>
                <a:cs typeface="Public Sans"/>
                <a:sym typeface="Public Sans"/>
              </a:rPr>
              <a:t>he code above demonstrates that </a:t>
            </a:r>
            <a:r>
              <a:rPr lang="en-US" b="true" sz="3200">
                <a:solidFill>
                  <a:srgbClr val="1800AD"/>
                </a:solidFill>
                <a:latin typeface="Public Sans Bold"/>
                <a:ea typeface="Public Sans Bold"/>
                <a:cs typeface="Public Sans Bold"/>
                <a:sym typeface="Public Sans Bold"/>
              </a:rPr>
              <a:t>FarmCell</a:t>
            </a:r>
            <a:r>
              <a:rPr lang="en-US" sz="3200">
                <a:solidFill>
                  <a:srgbClr val="1800AD"/>
                </a:solidFill>
                <a:latin typeface="Public Sans"/>
                <a:ea typeface="Public Sans"/>
                <a:cs typeface="Public Sans"/>
                <a:sym typeface="Public Sans"/>
              </a:rPr>
              <a:t> only knows that it conta</a:t>
            </a:r>
            <a:r>
              <a:rPr lang="en-US" sz="3200">
                <a:solidFill>
                  <a:srgbClr val="1800AD"/>
                </a:solidFill>
                <a:latin typeface="Public Sans"/>
                <a:ea typeface="Public Sans"/>
                <a:cs typeface="Public Sans"/>
                <a:sym typeface="Public Sans"/>
              </a:rPr>
              <a:t>ins a </a:t>
            </a:r>
            <a:r>
              <a:rPr lang="en-US" b="true" sz="3200">
                <a:solidFill>
                  <a:srgbClr val="1800AD"/>
                </a:solidFill>
                <a:latin typeface="Public Sans Bold"/>
                <a:ea typeface="Public Sans Bold"/>
                <a:cs typeface="Public Sans Bold"/>
                <a:sym typeface="Public Sans Bold"/>
              </a:rPr>
              <a:t>Crop</a:t>
            </a:r>
            <a:r>
              <a:rPr lang="en-US" sz="3200">
                <a:solidFill>
                  <a:srgbClr val="1800AD"/>
                </a:solidFill>
                <a:latin typeface="Public Sans"/>
                <a:ea typeface="Public Sans"/>
                <a:cs typeface="Public Sans"/>
                <a:sym typeface="Public Sans"/>
              </a:rPr>
              <a:t> object. It does not need to know whether the actual object is a </a:t>
            </a:r>
            <a:r>
              <a:rPr lang="en-US" b="true" sz="3200">
                <a:solidFill>
                  <a:srgbClr val="1800AD"/>
                </a:solidFill>
                <a:latin typeface="Public Sans Bold"/>
                <a:ea typeface="Public Sans Bold"/>
                <a:cs typeface="Public Sans Bold"/>
                <a:sym typeface="Public Sans Bold"/>
              </a:rPr>
              <a:t>Rice</a:t>
            </a:r>
            <a:r>
              <a:rPr lang="en-US" sz="3200">
                <a:solidFill>
                  <a:srgbClr val="1800AD"/>
                </a:solidFill>
                <a:latin typeface="Public Sans"/>
                <a:ea typeface="Public Sans"/>
                <a:cs typeface="Public Sans"/>
                <a:sym typeface="Public Sans"/>
              </a:rPr>
              <a:t>, </a:t>
            </a:r>
            <a:r>
              <a:rPr lang="en-US" b="true" sz="3200">
                <a:solidFill>
                  <a:srgbClr val="1800AD"/>
                </a:solidFill>
                <a:latin typeface="Public Sans Bold"/>
                <a:ea typeface="Public Sans Bold"/>
                <a:cs typeface="Public Sans Bold"/>
                <a:sym typeface="Public Sans Bold"/>
              </a:rPr>
              <a:t>Tomato</a:t>
            </a:r>
            <a:r>
              <a:rPr lang="en-US" sz="3200">
                <a:solidFill>
                  <a:srgbClr val="1800AD"/>
                </a:solidFill>
                <a:latin typeface="Public Sans"/>
                <a:ea typeface="Public Sans"/>
                <a:cs typeface="Public Sans"/>
                <a:sym typeface="Public Sans"/>
              </a:rPr>
              <a:t>, or </a:t>
            </a:r>
            <a:r>
              <a:rPr lang="en-US" b="true" sz="3200">
                <a:solidFill>
                  <a:srgbClr val="1800AD"/>
                </a:solidFill>
                <a:latin typeface="Public Sans Bold"/>
                <a:ea typeface="Public Sans Bold"/>
                <a:cs typeface="Public Sans Bold"/>
                <a:sym typeface="Public Sans Bold"/>
              </a:rPr>
              <a:t>Pumpkin</a:t>
            </a:r>
            <a:r>
              <a:rPr lang="en-US" sz="3200">
                <a:solidFill>
                  <a:srgbClr val="1800AD"/>
                </a:solidFill>
                <a:latin typeface="Public Sans"/>
                <a:ea typeface="Public Sans"/>
                <a:cs typeface="Public Sans"/>
                <a:sym typeface="Public Sans"/>
              </a:rPr>
              <a:t>. The cell interacts with the crop through the abstract </a:t>
            </a:r>
            <a:r>
              <a:rPr lang="en-US" b="true" sz="3200">
                <a:solidFill>
                  <a:srgbClr val="1800AD"/>
                </a:solidFill>
                <a:latin typeface="Public Sans Bold"/>
                <a:ea typeface="Public Sans Bold"/>
                <a:cs typeface="Public Sans Bold"/>
                <a:sym typeface="Public Sans Bold"/>
              </a:rPr>
              <a:t>Crop </a:t>
            </a:r>
            <a:r>
              <a:rPr lang="en-US" sz="3200">
                <a:solidFill>
                  <a:srgbClr val="1800AD"/>
                </a:solidFill>
                <a:latin typeface="Public Sans"/>
                <a:ea typeface="Public Sans"/>
                <a:cs typeface="Public Sans"/>
                <a:sym typeface="Public Sans"/>
              </a:rPr>
              <a:t>type and its public operations.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148466"/>
            <a:ext cx="7217569"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Encapsulation</a:t>
            </a:r>
          </a:p>
        </p:txBody>
      </p:sp>
      <p:sp>
        <p:nvSpPr>
          <p:cNvPr name="TextBox 5" id="5"/>
          <p:cNvSpPr txBox="true"/>
          <p:nvPr/>
        </p:nvSpPr>
        <p:spPr>
          <a:xfrm rot="0">
            <a:off x="1363487" y="1976437"/>
            <a:ext cx="15561026" cy="6324600"/>
          </a:xfrm>
          <a:prstGeom prst="rect">
            <a:avLst/>
          </a:prstGeom>
        </p:spPr>
        <p:txBody>
          <a:bodyPr anchor="t" rtlCol="false" tIns="0" lIns="0" bIns="0" rIns="0">
            <a:spAutoFit/>
          </a:bodyPr>
          <a:lstStyle/>
          <a:p>
            <a:pPr algn="l" marL="690670" indent="-345335" lvl="1">
              <a:lnSpc>
                <a:spcPts val="3838"/>
              </a:lnSpc>
              <a:buFont typeface="Arial"/>
              <a:buChar char="•"/>
            </a:pPr>
            <a:r>
              <a:rPr lang="en-US" b="true" sz="3199">
                <a:solidFill>
                  <a:srgbClr val="1800AD"/>
                </a:solidFill>
                <a:latin typeface="Public Sans Bold"/>
                <a:ea typeface="Public Sans Bold"/>
                <a:cs typeface="Public Sans Bold"/>
                <a:sym typeface="Public Sans Bold"/>
              </a:rPr>
              <a:t>FarmCell </a:t>
            </a:r>
            <a:r>
              <a:rPr lang="en-US" sz="3199">
                <a:solidFill>
                  <a:srgbClr val="1800AD"/>
                </a:solidFill>
                <a:latin typeface="Public Sans"/>
                <a:ea typeface="Public Sans"/>
                <a:cs typeface="Public Sans"/>
                <a:sym typeface="Public Sans"/>
              </a:rPr>
              <a:t>encapsulates the state of a farm t</a:t>
            </a:r>
            <a:r>
              <a:rPr lang="en-US" sz="3199">
                <a:solidFill>
                  <a:srgbClr val="1800AD"/>
                </a:solidFill>
                <a:latin typeface="Public Sans"/>
                <a:ea typeface="Public Sans"/>
                <a:cs typeface="Public Sans"/>
                <a:sym typeface="Public Sans"/>
              </a:rPr>
              <a:t>ile (moistureLevel, nutrientLevel, hasPests, and currentCrop) by declaring them as private. Other classes must interact with a cell through methods such as waterCell(), fertilizeCell(), plantCrop(), and clearPests() instead of modifying its fields directly.</a:t>
            </a:r>
          </a:p>
          <a:p>
            <a:pPr algn="l">
              <a:lnSpc>
                <a:spcPts val="3838"/>
              </a:lnSpc>
            </a:pPr>
          </a:p>
          <a:p>
            <a:pPr algn="l" marL="690670" indent="-345335" lvl="1">
              <a:lnSpc>
                <a:spcPts val="3838"/>
              </a:lnSpc>
              <a:buFont typeface="Arial"/>
              <a:buChar char="•"/>
            </a:pPr>
            <a:r>
              <a:rPr lang="en-US" b="true" sz="3199">
                <a:solidFill>
                  <a:srgbClr val="1800AD"/>
                </a:solidFill>
                <a:latin typeface="Public Sans Bold"/>
                <a:ea typeface="Public Sans Bold"/>
                <a:cs typeface="Public Sans Bold"/>
                <a:sym typeface="Public Sans Bold"/>
              </a:rPr>
              <a:t>Crop </a:t>
            </a:r>
            <a:r>
              <a:rPr lang="en-US" sz="3199">
                <a:solidFill>
                  <a:srgbClr val="1800AD"/>
                </a:solidFill>
                <a:latin typeface="Public Sans"/>
                <a:ea typeface="Public Sans"/>
                <a:cs typeface="Public Sans"/>
                <a:sym typeface="Public Sans"/>
              </a:rPr>
              <a:t>encapsulates its lifecycle state (daysPlanted, stressDays, stage, skipNextGrowthCycle, etc.). External classes cannot directly manipulate these values; all updates occur through crop operations such as grow(), consumeResources(), and checkSurvival(). </a:t>
            </a:r>
          </a:p>
          <a:p>
            <a:pPr algn="l">
              <a:lnSpc>
                <a:spcPts val="3838"/>
              </a:lnSpc>
            </a:pPr>
          </a:p>
          <a:p>
            <a:pPr algn="l" marL="690670" indent="-345335" lvl="1">
              <a:lnSpc>
                <a:spcPts val="3838"/>
              </a:lnSpc>
              <a:buFont typeface="Arial"/>
              <a:buChar char="•"/>
            </a:pPr>
            <a:r>
              <a:rPr lang="en-US" b="true" sz="3199">
                <a:solidFill>
                  <a:srgbClr val="1800AD"/>
                </a:solidFill>
                <a:latin typeface="Public Sans Bold"/>
                <a:ea typeface="Public Sans Bold"/>
                <a:cs typeface="Public Sans Bold"/>
                <a:sym typeface="Public Sans Bold"/>
              </a:rPr>
              <a:t>GameContext </a:t>
            </a:r>
            <a:r>
              <a:rPr lang="en-US" sz="3199">
                <a:solidFill>
                  <a:srgbClr val="1800AD"/>
                </a:solidFill>
                <a:latin typeface="Public Sans"/>
                <a:ea typeface="Public Sans"/>
                <a:cs typeface="Public Sans"/>
                <a:sym typeface="Public Sans"/>
              </a:rPr>
              <a:t>makes attributes day and balance private , exposing only controlled operations. This prevents any controller from directly writing ctx. balance = 9999 or ctx.day = -1.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0402371" y="1827229"/>
            <a:ext cx="6596872" cy="4940754"/>
          </a:xfrm>
          <a:custGeom>
            <a:avLst/>
            <a:gdLst/>
            <a:ahLst/>
            <a:cxnLst/>
            <a:rect r="r" b="b" t="t" l="l"/>
            <a:pathLst>
              <a:path h="4940754" w="6596872">
                <a:moveTo>
                  <a:pt x="0" y="0"/>
                </a:moveTo>
                <a:lnTo>
                  <a:pt x="6596872" y="0"/>
                </a:lnTo>
                <a:lnTo>
                  <a:pt x="6596872" y="4940753"/>
                </a:lnTo>
                <a:lnTo>
                  <a:pt x="0" y="4940753"/>
                </a:lnTo>
                <a:lnTo>
                  <a:pt x="0" y="0"/>
                </a:lnTo>
                <a:close/>
              </a:path>
            </a:pathLst>
          </a:custGeom>
          <a:blipFill>
            <a:blip r:embed="rId3"/>
            <a:stretch>
              <a:fillRect l="0" t="0" r="0" b="0"/>
            </a:stretch>
          </a:blipFill>
          <a:ln w="19050" cap="sq">
            <a:solidFill>
              <a:srgbClr val="000000"/>
            </a:solidFill>
            <a:prstDash val="solid"/>
            <a:miter/>
          </a:ln>
        </p:spPr>
      </p:sp>
      <p:sp>
        <p:nvSpPr>
          <p:cNvPr name="TextBox 5" id="5"/>
          <p:cNvSpPr txBox="true"/>
          <p:nvPr/>
        </p:nvSpPr>
        <p:spPr>
          <a:xfrm rot="0">
            <a:off x="1028700" y="148466"/>
            <a:ext cx="7217569"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Encapsulation</a:t>
            </a:r>
          </a:p>
        </p:txBody>
      </p:sp>
      <p:sp>
        <p:nvSpPr>
          <p:cNvPr name="TextBox 6" id="6"/>
          <p:cNvSpPr txBox="true"/>
          <p:nvPr/>
        </p:nvSpPr>
        <p:spPr>
          <a:xfrm rot="0">
            <a:off x="1028700" y="1817704"/>
            <a:ext cx="8115300" cy="4381480"/>
          </a:xfrm>
          <a:prstGeom prst="rect">
            <a:avLst/>
          </a:prstGeom>
        </p:spPr>
        <p:txBody>
          <a:bodyPr anchor="t" rtlCol="false" tIns="0" lIns="0" bIns="0" rIns="0">
            <a:spAutoFit/>
          </a:bodyPr>
          <a:lstStyle/>
          <a:p>
            <a:pPr algn="l" marL="690670" indent="-345335" lvl="1">
              <a:lnSpc>
                <a:spcPts val="3838"/>
              </a:lnSpc>
              <a:buFont typeface="Arial"/>
              <a:buChar char="•"/>
            </a:pPr>
            <a:r>
              <a:rPr lang="en-US" sz="3199">
                <a:solidFill>
                  <a:srgbClr val="1800AD"/>
                </a:solidFill>
                <a:latin typeface="Public Sans"/>
                <a:ea typeface="Public Sans"/>
                <a:cs typeface="Public Sans"/>
                <a:sym typeface="Public Sans"/>
              </a:rPr>
              <a:t>From the code snippet beside, we can see that</a:t>
            </a:r>
            <a:r>
              <a:rPr lang="en-US" b="true" sz="3199">
                <a:solidFill>
                  <a:srgbClr val="1800AD"/>
                </a:solidFill>
                <a:latin typeface="Public Sans Bold"/>
                <a:ea typeface="Public Sans Bold"/>
                <a:cs typeface="Public Sans Bold"/>
                <a:sym typeface="Public Sans Bold"/>
              </a:rPr>
              <a:t> FarmC</a:t>
            </a:r>
            <a:r>
              <a:rPr lang="en-US" b="true" sz="3199">
                <a:solidFill>
                  <a:srgbClr val="1800AD"/>
                </a:solidFill>
                <a:latin typeface="Public Sans Bold"/>
                <a:ea typeface="Public Sans Bold"/>
                <a:cs typeface="Public Sans Bold"/>
                <a:sym typeface="Public Sans Bold"/>
              </a:rPr>
              <a:t>ell </a:t>
            </a:r>
            <a:r>
              <a:rPr lang="en-US" sz="3199">
                <a:solidFill>
                  <a:srgbClr val="1800AD"/>
                </a:solidFill>
                <a:latin typeface="Public Sans"/>
                <a:ea typeface="Public Sans"/>
                <a:cs typeface="Public Sans"/>
                <a:sym typeface="Public Sans"/>
              </a:rPr>
              <a:t>stores mo</a:t>
            </a:r>
            <a:r>
              <a:rPr lang="en-US" sz="3199">
                <a:solidFill>
                  <a:srgbClr val="1800AD"/>
                </a:solidFill>
                <a:latin typeface="Public Sans"/>
                <a:ea typeface="Public Sans"/>
                <a:cs typeface="Public Sans"/>
                <a:sym typeface="Public Sans"/>
              </a:rPr>
              <a:t>istureLevel as a private field. External classes cannot change it directly and must call waterCell(), which applies the update while enforcing the maximum moisture limit. This protects the object's internal state and keeps the game data consistent.</a:t>
            </a:r>
          </a:p>
        </p:txBody>
      </p:sp>
      <p:sp>
        <p:nvSpPr>
          <p:cNvPr name="TextBox 7" id="7"/>
          <p:cNvSpPr txBox="true"/>
          <p:nvPr/>
        </p:nvSpPr>
        <p:spPr>
          <a:xfrm rot="0">
            <a:off x="1434175" y="7478717"/>
            <a:ext cx="15825125" cy="981055"/>
          </a:xfrm>
          <a:prstGeom prst="rect">
            <a:avLst/>
          </a:prstGeom>
        </p:spPr>
        <p:txBody>
          <a:bodyPr anchor="t" rtlCol="false" tIns="0" lIns="0" bIns="0" rIns="0">
            <a:spAutoFit/>
          </a:bodyPr>
          <a:lstStyle/>
          <a:p>
            <a:pPr algn="l">
              <a:lnSpc>
                <a:spcPts val="3838"/>
              </a:lnSpc>
              <a:spcBef>
                <a:spcPct val="0"/>
              </a:spcBef>
            </a:pPr>
            <a:r>
              <a:rPr lang="en-US" sz="3199">
                <a:solidFill>
                  <a:srgbClr val="1800AD"/>
                </a:solidFill>
                <a:latin typeface="Public Sans"/>
                <a:ea typeface="Public Sans"/>
                <a:cs typeface="Public Sans"/>
                <a:sym typeface="Public Sans"/>
              </a:rPr>
              <a:t>→ By keeping va</a:t>
            </a:r>
            <a:r>
              <a:rPr lang="en-US" sz="3199">
                <a:solidFill>
                  <a:srgbClr val="1800AD"/>
                </a:solidFill>
                <a:latin typeface="Public Sans"/>
                <a:ea typeface="Public Sans"/>
                <a:cs typeface="Public Sans"/>
                <a:sym typeface="Public Sans"/>
              </a:rPr>
              <a:t>lidation and state-transit</a:t>
            </a:r>
            <a:r>
              <a:rPr lang="en-US" sz="3199">
                <a:solidFill>
                  <a:srgbClr val="1800AD"/>
                </a:solidFill>
                <a:latin typeface="Public Sans"/>
                <a:ea typeface="Public Sans"/>
                <a:cs typeface="Public Sans"/>
                <a:sym typeface="Public Sans"/>
              </a:rPr>
              <a:t>ion logic inside the owning classes, the project prevents invalid game states and maintains object consistency.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1040833" y="2115827"/>
            <a:ext cx="6785017" cy="3449050"/>
          </a:xfrm>
          <a:custGeom>
            <a:avLst/>
            <a:gdLst/>
            <a:ahLst/>
            <a:cxnLst/>
            <a:rect r="r" b="b" t="t" l="l"/>
            <a:pathLst>
              <a:path h="3449050" w="6785017">
                <a:moveTo>
                  <a:pt x="0" y="0"/>
                </a:moveTo>
                <a:lnTo>
                  <a:pt x="6785018" y="0"/>
                </a:lnTo>
                <a:lnTo>
                  <a:pt x="6785018" y="3449051"/>
                </a:lnTo>
                <a:lnTo>
                  <a:pt x="0" y="3449051"/>
                </a:lnTo>
                <a:lnTo>
                  <a:pt x="0" y="0"/>
                </a:lnTo>
                <a:close/>
              </a:path>
            </a:pathLst>
          </a:custGeom>
          <a:blipFill>
            <a:blip r:embed="rId3"/>
            <a:stretch>
              <a:fillRect l="0" t="0" r="0" b="0"/>
            </a:stretch>
          </a:blipFill>
          <a:ln w="19050" cap="sq">
            <a:solidFill>
              <a:srgbClr val="000000"/>
            </a:solidFill>
            <a:prstDash val="solid"/>
            <a:miter/>
          </a:ln>
        </p:spPr>
      </p:sp>
      <p:sp>
        <p:nvSpPr>
          <p:cNvPr name="Freeform 5" id="5"/>
          <p:cNvSpPr/>
          <p:nvPr/>
        </p:nvSpPr>
        <p:spPr>
          <a:xfrm flipH="false" flipV="false" rot="0">
            <a:off x="9831497" y="2115827"/>
            <a:ext cx="7572233" cy="3449050"/>
          </a:xfrm>
          <a:custGeom>
            <a:avLst/>
            <a:gdLst/>
            <a:ahLst/>
            <a:cxnLst/>
            <a:rect r="r" b="b" t="t" l="l"/>
            <a:pathLst>
              <a:path h="3449050" w="7572233">
                <a:moveTo>
                  <a:pt x="0" y="0"/>
                </a:moveTo>
                <a:lnTo>
                  <a:pt x="7572233" y="0"/>
                </a:lnTo>
                <a:lnTo>
                  <a:pt x="7572233" y="3449051"/>
                </a:lnTo>
                <a:lnTo>
                  <a:pt x="0" y="3449051"/>
                </a:lnTo>
                <a:lnTo>
                  <a:pt x="0" y="0"/>
                </a:lnTo>
                <a:close/>
              </a:path>
            </a:pathLst>
          </a:custGeom>
          <a:blipFill>
            <a:blip r:embed="rId4"/>
            <a:stretch>
              <a:fillRect l="0" t="0" r="0" b="0"/>
            </a:stretch>
          </a:blipFill>
          <a:ln w="19050" cap="sq">
            <a:solidFill>
              <a:srgbClr val="000000"/>
            </a:solidFill>
            <a:prstDash val="solid"/>
            <a:miter/>
          </a:ln>
        </p:spPr>
      </p:sp>
      <p:sp>
        <p:nvSpPr>
          <p:cNvPr name="TextBox 6" id="6"/>
          <p:cNvSpPr txBox="true"/>
          <p:nvPr/>
        </p:nvSpPr>
        <p:spPr>
          <a:xfrm rot="0">
            <a:off x="1028700" y="148466"/>
            <a:ext cx="6590258"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Inheritance</a:t>
            </a:r>
          </a:p>
        </p:txBody>
      </p:sp>
      <p:sp>
        <p:nvSpPr>
          <p:cNvPr name="TextBox 7" id="7"/>
          <p:cNvSpPr txBox="true"/>
          <p:nvPr/>
        </p:nvSpPr>
        <p:spPr>
          <a:xfrm rot="0">
            <a:off x="1028700" y="6218568"/>
            <a:ext cx="6809284" cy="1952605"/>
          </a:xfrm>
          <a:prstGeom prst="rect">
            <a:avLst/>
          </a:prstGeom>
        </p:spPr>
        <p:txBody>
          <a:bodyPr anchor="t" rtlCol="false" tIns="0" lIns="0" bIns="0" rIns="0">
            <a:spAutoFit/>
          </a:bodyPr>
          <a:lstStyle/>
          <a:p>
            <a:pPr algn="l" marL="690670" indent="-345335" lvl="1">
              <a:lnSpc>
                <a:spcPts val="3838"/>
              </a:lnSpc>
              <a:buFont typeface="Arial"/>
              <a:buChar char="•"/>
            </a:pPr>
            <a:r>
              <a:rPr lang="en-US" b="true" sz="3199">
                <a:solidFill>
                  <a:srgbClr val="1800AD"/>
                </a:solidFill>
                <a:latin typeface="Public Sans Bold"/>
                <a:ea typeface="Public Sans Bold"/>
                <a:cs typeface="Public Sans Bold"/>
                <a:sym typeface="Public Sans Bold"/>
              </a:rPr>
              <a:t>Crop H</a:t>
            </a:r>
            <a:r>
              <a:rPr lang="en-US" b="true" sz="3199">
                <a:solidFill>
                  <a:srgbClr val="1800AD"/>
                </a:solidFill>
                <a:latin typeface="Public Sans Bold"/>
                <a:ea typeface="Public Sans Bold"/>
                <a:cs typeface="Public Sans Bold"/>
                <a:sym typeface="Public Sans Bold"/>
              </a:rPr>
              <a:t>ierarchy:</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Rice</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Radish</a:t>
            </a:r>
            <a:r>
              <a:rPr lang="en-US" sz="3199">
                <a:solidFill>
                  <a:srgbClr val="1800AD"/>
                </a:solidFill>
                <a:latin typeface="Public Sans"/>
                <a:ea typeface="Public Sans"/>
                <a:cs typeface="Public Sans"/>
                <a:sym typeface="Public Sans"/>
              </a:rPr>
              <a:t>, and </a:t>
            </a:r>
            <a:r>
              <a:rPr lang="en-US" b="true" sz="3199">
                <a:solidFill>
                  <a:srgbClr val="1800AD"/>
                </a:solidFill>
                <a:latin typeface="Public Sans Bold"/>
                <a:ea typeface="Public Sans Bold"/>
                <a:cs typeface="Public Sans Bold"/>
                <a:sym typeface="Public Sans Bold"/>
              </a:rPr>
              <a:t>Pumpkin</a:t>
            </a:r>
            <a:r>
              <a:rPr lang="en-US" sz="3199">
                <a:solidFill>
                  <a:srgbClr val="1800AD"/>
                </a:solidFill>
                <a:latin typeface="Public Sans"/>
                <a:ea typeface="Public Sans"/>
                <a:cs typeface="Public Sans"/>
                <a:sym typeface="Public Sans"/>
              </a:rPr>
              <a:t> extend the </a:t>
            </a:r>
            <a:r>
              <a:rPr lang="en-US" b="true" sz="3199">
                <a:solidFill>
                  <a:srgbClr val="1800AD"/>
                </a:solidFill>
                <a:latin typeface="Public Sans Bold"/>
                <a:ea typeface="Public Sans Bold"/>
                <a:cs typeface="Public Sans Bold"/>
                <a:sym typeface="Public Sans Bold"/>
              </a:rPr>
              <a:t>Crop</a:t>
            </a:r>
            <a:r>
              <a:rPr lang="en-US" sz="3199">
                <a:solidFill>
                  <a:srgbClr val="1800AD"/>
                </a:solidFill>
                <a:latin typeface="Public Sans"/>
                <a:ea typeface="Public Sans"/>
                <a:cs typeface="Public Sans"/>
                <a:sym typeface="Public Sans"/>
              </a:rPr>
              <a:t> class, fully reusing the standard lifecycle logic.</a:t>
            </a:r>
          </a:p>
        </p:txBody>
      </p:sp>
      <p:sp>
        <p:nvSpPr>
          <p:cNvPr name="TextBox 8" id="8"/>
          <p:cNvSpPr txBox="true"/>
          <p:nvPr/>
        </p:nvSpPr>
        <p:spPr>
          <a:xfrm rot="0">
            <a:off x="9478504" y="6218568"/>
            <a:ext cx="7780796" cy="1952605"/>
          </a:xfrm>
          <a:prstGeom prst="rect">
            <a:avLst/>
          </a:prstGeom>
        </p:spPr>
        <p:txBody>
          <a:bodyPr anchor="t" rtlCol="false" tIns="0" lIns="0" bIns="0" rIns="0">
            <a:spAutoFit/>
          </a:bodyPr>
          <a:lstStyle/>
          <a:p>
            <a:pPr algn="l" marL="690670" indent="-345335" lvl="1">
              <a:lnSpc>
                <a:spcPts val="3838"/>
              </a:lnSpc>
              <a:buFont typeface="Arial"/>
              <a:buChar char="•"/>
            </a:pPr>
            <a:r>
              <a:rPr lang="en-US" b="true" sz="3199">
                <a:solidFill>
                  <a:srgbClr val="1800AD"/>
                </a:solidFill>
                <a:latin typeface="Public Sans Bold"/>
                <a:ea typeface="Public Sans Bold"/>
                <a:cs typeface="Public Sans Bold"/>
                <a:sym typeface="Public Sans Bold"/>
              </a:rPr>
              <a:t>Weather H</a:t>
            </a:r>
            <a:r>
              <a:rPr lang="en-US" b="true" sz="3199">
                <a:solidFill>
                  <a:srgbClr val="1800AD"/>
                </a:solidFill>
                <a:latin typeface="Public Sans Bold"/>
                <a:ea typeface="Public Sans Bold"/>
                <a:cs typeface="Public Sans Bold"/>
                <a:sym typeface="Public Sans Bold"/>
              </a:rPr>
              <a:t>ierarchy:</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Sunny</a:t>
            </a:r>
            <a:r>
              <a:rPr lang="en-US" sz="3199">
                <a:solidFill>
                  <a:srgbClr val="1800AD"/>
                </a:solidFill>
                <a:latin typeface="Public Sans"/>
                <a:ea typeface="Public Sans"/>
                <a:cs typeface="Public Sans"/>
                <a:sym typeface="Public Sans"/>
              </a:rPr>
              <a:t> and </a:t>
            </a:r>
            <a:r>
              <a:rPr lang="en-US" b="true" sz="3199">
                <a:solidFill>
                  <a:srgbClr val="1800AD"/>
                </a:solidFill>
                <a:latin typeface="Public Sans Bold"/>
                <a:ea typeface="Public Sans Bold"/>
                <a:cs typeface="Public Sans Bold"/>
                <a:sym typeface="Public Sans Bold"/>
              </a:rPr>
              <a:t>Rainy</a:t>
            </a:r>
            <a:r>
              <a:rPr lang="en-US" sz="3199">
                <a:solidFill>
                  <a:srgbClr val="1800AD"/>
                </a:solidFill>
                <a:latin typeface="Public Sans"/>
                <a:ea typeface="Public Sans"/>
                <a:cs typeface="Public Sans"/>
                <a:sym typeface="Public Sans"/>
              </a:rPr>
              <a:t> extend </a:t>
            </a:r>
            <a:r>
              <a:rPr lang="en-US" b="true" sz="3199">
                <a:solidFill>
                  <a:srgbClr val="1800AD"/>
                </a:solidFill>
                <a:latin typeface="Public Sans Bold"/>
                <a:ea typeface="Public Sans Bold"/>
                <a:cs typeface="Public Sans Bold"/>
                <a:sym typeface="Public Sans Bold"/>
              </a:rPr>
              <a:t>BaseWeather</a:t>
            </a:r>
            <a:r>
              <a:rPr lang="en-US" sz="3199">
                <a:solidFill>
                  <a:srgbClr val="1800AD"/>
                </a:solidFill>
                <a:latin typeface="Public Sans"/>
                <a:ea typeface="Public Sans"/>
                <a:cs typeface="Public Sans"/>
                <a:sym typeface="Public Sans"/>
              </a:rPr>
              <a:t>, inheriting base utilities while overriding specific weather effects.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8917309" y="2547541"/>
            <a:ext cx="8341991" cy="3291569"/>
          </a:xfrm>
          <a:custGeom>
            <a:avLst/>
            <a:gdLst/>
            <a:ahLst/>
            <a:cxnLst/>
            <a:rect r="r" b="b" t="t" l="l"/>
            <a:pathLst>
              <a:path h="3291569" w="8341991">
                <a:moveTo>
                  <a:pt x="0" y="0"/>
                </a:moveTo>
                <a:lnTo>
                  <a:pt x="8341991" y="0"/>
                </a:lnTo>
                <a:lnTo>
                  <a:pt x="8341991" y="3291568"/>
                </a:lnTo>
                <a:lnTo>
                  <a:pt x="0" y="3291568"/>
                </a:lnTo>
                <a:lnTo>
                  <a:pt x="0" y="0"/>
                </a:lnTo>
                <a:close/>
              </a:path>
            </a:pathLst>
          </a:custGeom>
          <a:blipFill>
            <a:blip r:embed="rId3"/>
            <a:stretch>
              <a:fillRect l="0" t="0" r="0" b="0"/>
            </a:stretch>
          </a:blipFill>
          <a:ln w="19050" cap="sq">
            <a:solidFill>
              <a:srgbClr val="000000"/>
            </a:solidFill>
            <a:prstDash val="solid"/>
            <a:miter/>
          </a:ln>
        </p:spPr>
      </p:sp>
      <p:sp>
        <p:nvSpPr>
          <p:cNvPr name="TextBox 5" id="5"/>
          <p:cNvSpPr txBox="true"/>
          <p:nvPr/>
        </p:nvSpPr>
        <p:spPr>
          <a:xfrm rot="0">
            <a:off x="1028700" y="148466"/>
            <a:ext cx="6590258"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Inheritance</a:t>
            </a:r>
          </a:p>
        </p:txBody>
      </p:sp>
      <p:sp>
        <p:nvSpPr>
          <p:cNvPr name="TextBox 6" id="6"/>
          <p:cNvSpPr txBox="true"/>
          <p:nvPr/>
        </p:nvSpPr>
        <p:spPr>
          <a:xfrm rot="0">
            <a:off x="1028700" y="3455148"/>
            <a:ext cx="7291339" cy="1466830"/>
          </a:xfrm>
          <a:prstGeom prst="rect">
            <a:avLst/>
          </a:prstGeom>
        </p:spPr>
        <p:txBody>
          <a:bodyPr anchor="t" rtlCol="false" tIns="0" lIns="0" bIns="0" rIns="0">
            <a:spAutoFit/>
          </a:bodyPr>
          <a:lstStyle/>
          <a:p>
            <a:pPr algn="l" marL="690670" indent="-345335" lvl="1">
              <a:lnSpc>
                <a:spcPts val="3838"/>
              </a:lnSpc>
              <a:buFont typeface="Arial"/>
              <a:buChar char="•"/>
            </a:pPr>
            <a:r>
              <a:rPr lang="en-US" b="true" sz="3199">
                <a:solidFill>
                  <a:srgbClr val="1800AD"/>
                </a:solidFill>
                <a:latin typeface="Lato Bold"/>
                <a:ea typeface="Lato Bold"/>
                <a:cs typeface="Lato Bold"/>
                <a:sym typeface="Lato Bold"/>
              </a:rPr>
              <a:t>Renderer H</a:t>
            </a:r>
            <a:r>
              <a:rPr lang="en-US" b="true" sz="3199">
                <a:solidFill>
                  <a:srgbClr val="1800AD"/>
                </a:solidFill>
                <a:latin typeface="Lato Bold"/>
                <a:ea typeface="Lato Bold"/>
                <a:cs typeface="Lato Bold"/>
                <a:sym typeface="Lato Bold"/>
              </a:rPr>
              <a:t>ierarchy:</a:t>
            </a:r>
            <a:r>
              <a:rPr lang="en-US" sz="3199">
                <a:solidFill>
                  <a:srgbClr val="1800AD"/>
                </a:solidFill>
                <a:latin typeface="Lato"/>
                <a:ea typeface="Lato"/>
                <a:cs typeface="Lato"/>
                <a:sym typeface="Lato"/>
              </a:rPr>
              <a:t> All UI renderers inherit from </a:t>
            </a:r>
            <a:r>
              <a:rPr lang="en-US" b="true" sz="3199">
                <a:solidFill>
                  <a:srgbClr val="1800AD"/>
                </a:solidFill>
                <a:latin typeface="Lato Bold"/>
                <a:ea typeface="Lato Bold"/>
                <a:cs typeface="Lato Bold"/>
                <a:sym typeface="Lato Bold"/>
              </a:rPr>
              <a:t>BaseRenderer</a:t>
            </a:r>
            <a:r>
              <a:rPr lang="en-US" sz="3199">
                <a:solidFill>
                  <a:srgbClr val="1800AD"/>
                </a:solidFill>
                <a:latin typeface="Lato"/>
                <a:ea typeface="Lato"/>
                <a:cs typeface="Lato"/>
                <a:sym typeface="Lato"/>
              </a:rPr>
              <a:t> to reuse drawing utilities like renderButton().</a:t>
            </a:r>
          </a:p>
        </p:txBody>
      </p:sp>
      <p:sp>
        <p:nvSpPr>
          <p:cNvPr name="TextBox 7" id="7"/>
          <p:cNvSpPr txBox="true"/>
          <p:nvPr/>
        </p:nvSpPr>
        <p:spPr>
          <a:xfrm rot="0">
            <a:off x="1507945" y="6708330"/>
            <a:ext cx="15751355" cy="981055"/>
          </a:xfrm>
          <a:prstGeom prst="rect">
            <a:avLst/>
          </a:prstGeom>
        </p:spPr>
        <p:txBody>
          <a:bodyPr anchor="t" rtlCol="false" tIns="0" lIns="0" bIns="0" rIns="0">
            <a:spAutoFit/>
          </a:bodyPr>
          <a:lstStyle/>
          <a:p>
            <a:pPr algn="l">
              <a:lnSpc>
                <a:spcPts val="3838"/>
              </a:lnSpc>
              <a:spcBef>
                <a:spcPct val="0"/>
              </a:spcBef>
            </a:pPr>
            <a:r>
              <a:rPr lang="en-US" sz="3199">
                <a:solidFill>
                  <a:srgbClr val="1800AD"/>
                </a:solidFill>
                <a:latin typeface="Lato"/>
                <a:ea typeface="Lato"/>
                <a:cs typeface="Lato"/>
                <a:sym typeface="Lato"/>
              </a:rPr>
              <a:t>→ Through inheritance, s</a:t>
            </a:r>
            <a:r>
              <a:rPr lang="en-US" sz="3199">
                <a:solidFill>
                  <a:srgbClr val="1800AD"/>
                </a:solidFill>
                <a:latin typeface="Lato"/>
                <a:ea typeface="Lato"/>
                <a:cs typeface="Lato"/>
                <a:sym typeface="Lato"/>
              </a:rPr>
              <a:t>ubclasses seamlessly reuse foundat</a:t>
            </a:r>
            <a:r>
              <a:rPr lang="en-US" sz="3199">
                <a:solidFill>
                  <a:srgbClr val="1800AD"/>
                </a:solidFill>
                <a:latin typeface="Lato"/>
                <a:ea typeface="Lato"/>
                <a:cs typeface="Lato"/>
                <a:sym typeface="Lato"/>
              </a:rPr>
              <a:t>ional parent logic while overriding specific rules to implement their own specialized game mechanics.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148466"/>
            <a:ext cx="7322582"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Polymorphism</a:t>
            </a:r>
          </a:p>
        </p:txBody>
      </p:sp>
      <p:sp>
        <p:nvSpPr>
          <p:cNvPr name="TextBox 5" id="5"/>
          <p:cNvSpPr txBox="true"/>
          <p:nvPr/>
        </p:nvSpPr>
        <p:spPr>
          <a:xfrm rot="0">
            <a:off x="1028700" y="1464615"/>
            <a:ext cx="16230600" cy="7291095"/>
          </a:xfrm>
          <a:prstGeom prst="rect">
            <a:avLst/>
          </a:prstGeom>
        </p:spPr>
        <p:txBody>
          <a:bodyPr anchor="t" rtlCol="false" tIns="0" lIns="0" bIns="0" rIns="0">
            <a:spAutoFit/>
          </a:bodyPr>
          <a:lstStyle/>
          <a:p>
            <a:pPr algn="l" marL="690670" indent="-345335" lvl="1">
              <a:lnSpc>
                <a:spcPts val="4478"/>
              </a:lnSpc>
              <a:buFont typeface="Arial"/>
              <a:buChar char="•"/>
            </a:pPr>
            <a:r>
              <a:rPr lang="en-US" b="true" sz="3199">
                <a:solidFill>
                  <a:srgbClr val="1800AD"/>
                </a:solidFill>
                <a:latin typeface="Public Sans Bold"/>
                <a:ea typeface="Public Sans Bold"/>
                <a:cs typeface="Public Sans Bold"/>
                <a:sym typeface="Public Sans Bold"/>
              </a:rPr>
              <a:t>W</a:t>
            </a:r>
            <a:r>
              <a:rPr lang="en-US" b="true" sz="3199">
                <a:solidFill>
                  <a:srgbClr val="1800AD"/>
                </a:solidFill>
                <a:latin typeface="Public Sans Bold"/>
                <a:ea typeface="Public Sans Bold"/>
                <a:cs typeface="Public Sans Bold"/>
                <a:sym typeface="Public Sans Bold"/>
              </a:rPr>
              <a:t>eather polymorphism</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Sunny</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Rainy</a:t>
            </a:r>
            <a:r>
              <a:rPr lang="en-US" sz="3199">
                <a:solidFill>
                  <a:srgbClr val="1800AD"/>
                </a:solidFill>
                <a:latin typeface="Public Sans"/>
                <a:ea typeface="Public Sans"/>
                <a:cs typeface="Public Sans"/>
                <a:sym typeface="Public Sans"/>
              </a:rPr>
              <a:t>, and </a:t>
            </a:r>
            <a:r>
              <a:rPr lang="en-US" b="true" sz="3199">
                <a:solidFill>
                  <a:srgbClr val="1800AD"/>
                </a:solidFill>
                <a:latin typeface="Public Sans Bold"/>
                <a:ea typeface="Public Sans Bold"/>
                <a:cs typeface="Public Sans Bold"/>
                <a:sym typeface="Public Sans Bold"/>
              </a:rPr>
              <a:t>Drought</a:t>
            </a:r>
            <a:r>
              <a:rPr lang="en-US" b="true" sz="3199">
                <a:solidFill>
                  <a:srgbClr val="1800AD"/>
                </a:solidFill>
                <a:latin typeface="Public Sans Bold"/>
                <a:ea typeface="Public Sans Bold"/>
                <a:cs typeface="Public Sans Bold"/>
                <a:sym typeface="Public Sans Bold"/>
              </a:rPr>
              <a:t> </a:t>
            </a:r>
            <a:r>
              <a:rPr lang="en-US" sz="3199">
                <a:solidFill>
                  <a:srgbClr val="1800AD"/>
                </a:solidFill>
                <a:latin typeface="Public Sans"/>
                <a:ea typeface="Public Sans"/>
                <a:cs typeface="Public Sans"/>
                <a:sym typeface="Public Sans"/>
              </a:rPr>
              <a:t>implement the </a:t>
            </a:r>
            <a:r>
              <a:rPr lang="en-US" b="true" sz="3199">
                <a:solidFill>
                  <a:srgbClr val="1800AD"/>
                </a:solidFill>
                <a:latin typeface="Public Sans Bold"/>
                <a:ea typeface="Public Sans Bold"/>
                <a:cs typeface="Public Sans Bold"/>
                <a:sym typeface="Public Sans Bold"/>
              </a:rPr>
              <a:t>Weather </a:t>
            </a:r>
            <a:r>
              <a:rPr lang="en-US" sz="3199">
                <a:solidFill>
                  <a:srgbClr val="1800AD"/>
                </a:solidFill>
                <a:latin typeface="Public Sans"/>
                <a:ea typeface="Public Sans"/>
                <a:cs typeface="Public Sans"/>
                <a:sym typeface="Public Sans"/>
              </a:rPr>
              <a:t>interface. The game interacts only with the </a:t>
            </a:r>
            <a:r>
              <a:rPr lang="en-US" b="true" sz="3199">
                <a:solidFill>
                  <a:srgbClr val="1800AD"/>
                </a:solidFill>
                <a:latin typeface="Public Sans Bold"/>
                <a:ea typeface="Public Sans Bold"/>
                <a:cs typeface="Public Sans Bold"/>
                <a:sym typeface="Public Sans Bold"/>
              </a:rPr>
              <a:t>Weather </a:t>
            </a:r>
            <a:r>
              <a:rPr lang="en-US" sz="3199">
                <a:solidFill>
                  <a:srgbClr val="1800AD"/>
                </a:solidFill>
                <a:latin typeface="Public Sans"/>
                <a:ea typeface="Public Sans"/>
                <a:cs typeface="Public Sans"/>
                <a:sym typeface="Public Sans"/>
              </a:rPr>
              <a:t>type, while the correct weather-specific behavior is selected at runtime.</a:t>
            </a:r>
          </a:p>
          <a:p>
            <a:pPr algn="l" marL="690670" indent="-345335" lvl="1">
              <a:lnSpc>
                <a:spcPts val="4478"/>
              </a:lnSpc>
              <a:buFont typeface="Arial"/>
              <a:buChar char="•"/>
            </a:pPr>
            <a:r>
              <a:rPr lang="en-US" b="true" sz="3199">
                <a:solidFill>
                  <a:srgbClr val="1800AD"/>
                </a:solidFill>
                <a:latin typeface="Public Sans Bold"/>
                <a:ea typeface="Public Sans Bold"/>
                <a:cs typeface="Public Sans Bold"/>
                <a:sym typeface="Public Sans Bold"/>
              </a:rPr>
              <a:t>Crop polymorphism</a:t>
            </a:r>
            <a:r>
              <a:rPr lang="en-US" sz="3199">
                <a:solidFill>
                  <a:srgbClr val="1800AD"/>
                </a:solidFill>
                <a:latin typeface="Public Sans"/>
                <a:ea typeface="Public Sans"/>
                <a:cs typeface="Public Sans"/>
                <a:sym typeface="Public Sans"/>
              </a:rPr>
              <a:t>: The game interacts only with the abstract </a:t>
            </a:r>
            <a:r>
              <a:rPr lang="en-US" b="true" sz="3199">
                <a:solidFill>
                  <a:srgbClr val="1800AD"/>
                </a:solidFill>
                <a:latin typeface="Public Sans Bold"/>
                <a:ea typeface="Public Sans Bold"/>
                <a:cs typeface="Public Sans Bold"/>
                <a:sym typeface="Public Sans Bold"/>
              </a:rPr>
              <a:t>Crop </a:t>
            </a:r>
            <a:r>
              <a:rPr lang="en-US" sz="3199">
                <a:solidFill>
                  <a:srgbClr val="1800AD"/>
                </a:solidFill>
                <a:latin typeface="Public Sans"/>
                <a:ea typeface="Public Sans"/>
                <a:cs typeface="Public Sans"/>
                <a:sym typeface="Public Sans"/>
              </a:rPr>
              <a:t>type. The actual crop species (</a:t>
            </a:r>
            <a:r>
              <a:rPr lang="en-US" b="true" sz="3199">
                <a:solidFill>
                  <a:srgbClr val="1800AD"/>
                </a:solidFill>
                <a:latin typeface="Public Sans Bold"/>
                <a:ea typeface="Public Sans Bold"/>
                <a:cs typeface="Public Sans Bold"/>
                <a:sym typeface="Public Sans Bold"/>
              </a:rPr>
              <a:t>Rice</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Pumpkin</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Radish</a:t>
            </a:r>
            <a:r>
              <a:rPr lang="en-US" sz="3199">
                <a:solidFill>
                  <a:srgbClr val="1800AD"/>
                </a:solidFill>
                <a:latin typeface="Public Sans"/>
                <a:ea typeface="Public Sans"/>
                <a:cs typeface="Public Sans"/>
                <a:sym typeface="Public Sans"/>
              </a:rPr>
              <a:t>, etc.) is determined at runtime, and overridden methods are dynamically dispatched to the appropriate implementation, enabling crop-specific behavior. </a:t>
            </a:r>
          </a:p>
          <a:p>
            <a:pPr algn="l" marL="690670" indent="-345335" lvl="1">
              <a:lnSpc>
                <a:spcPts val="4478"/>
              </a:lnSpc>
              <a:buFont typeface="Arial"/>
              <a:buChar char="•"/>
            </a:pPr>
            <a:r>
              <a:rPr lang="en-US" b="true" sz="3199">
                <a:solidFill>
                  <a:srgbClr val="1800AD"/>
                </a:solidFill>
                <a:latin typeface="Public Sans Bold"/>
                <a:ea typeface="Public Sans Bold"/>
                <a:cs typeface="Public Sans Bold"/>
                <a:sym typeface="Public Sans Bold"/>
              </a:rPr>
              <a:t>System polymorphism</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StateUpdater</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StateRenderer</a:t>
            </a:r>
            <a:r>
              <a:rPr lang="en-US" sz="3199">
                <a:solidFill>
                  <a:srgbClr val="1800AD"/>
                </a:solidFill>
                <a:latin typeface="Public Sans"/>
                <a:ea typeface="Public Sans"/>
                <a:cs typeface="Public Sans"/>
                <a:sym typeface="Public Sans"/>
              </a:rPr>
              <a:t>, and allow the game loop to invoke update(), render()without knowing the concrete controller, renderer, or trigger type. </a:t>
            </a:r>
          </a:p>
          <a:p>
            <a:pPr algn="l" marL="690670" indent="-345335" lvl="1">
              <a:lnSpc>
                <a:spcPts val="4478"/>
              </a:lnSpc>
              <a:buFont typeface="Arial"/>
              <a:buChar char="•"/>
            </a:pPr>
            <a:r>
              <a:rPr lang="en-US" b="true" sz="3199">
                <a:solidFill>
                  <a:srgbClr val="1800AD"/>
                </a:solidFill>
                <a:latin typeface="Public Sans Bold"/>
                <a:ea typeface="Public Sans Bold"/>
                <a:cs typeface="Public Sans Bold"/>
                <a:sym typeface="Public Sans Bold"/>
              </a:rPr>
              <a:t>Trigger polymorphism</a:t>
            </a:r>
            <a:r>
              <a:rPr lang="en-US" sz="3199">
                <a:solidFill>
                  <a:srgbClr val="1800AD"/>
                </a:solidFill>
                <a:latin typeface="Public Sans"/>
                <a:ea typeface="Public Sans"/>
                <a:cs typeface="Public Sans"/>
                <a:sym typeface="Public Sans"/>
              </a:rPr>
              <a:t>: Different trigger types (</a:t>
            </a:r>
            <a:r>
              <a:rPr lang="en-US" b="true" sz="3199">
                <a:solidFill>
                  <a:srgbClr val="1800AD"/>
                </a:solidFill>
                <a:latin typeface="Public Sans Bold"/>
                <a:ea typeface="Public Sans Bold"/>
                <a:cs typeface="Public Sans Bold"/>
                <a:sym typeface="Public Sans Bold"/>
              </a:rPr>
              <a:t>WeatherTrigger</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PestTrigger</a:t>
            </a:r>
            <a:r>
              <a:rPr lang="en-US" sz="3199">
                <a:solidFill>
                  <a:srgbClr val="1800AD"/>
                </a:solidFill>
                <a:latin typeface="Public Sans"/>
                <a:ea typeface="Public Sans"/>
                <a:cs typeface="Public Sans"/>
                <a:sym typeface="Public Sans"/>
              </a:rPr>
              <a:t>) are managed through the </a:t>
            </a:r>
            <a:r>
              <a:rPr lang="en-US" b="true" sz="3199">
                <a:solidFill>
                  <a:srgbClr val="1800AD"/>
                </a:solidFill>
                <a:latin typeface="Public Sans Bold"/>
                <a:ea typeface="Public Sans Bold"/>
                <a:cs typeface="Public Sans Bold"/>
                <a:sym typeface="Public Sans Bold"/>
              </a:rPr>
              <a:t>GameTrigger </a:t>
            </a:r>
            <a:r>
              <a:rPr lang="en-US" sz="3199">
                <a:solidFill>
                  <a:srgbClr val="1800AD"/>
                </a:solidFill>
                <a:latin typeface="Public Sans"/>
                <a:ea typeface="Public Sans"/>
                <a:cs typeface="Public Sans"/>
                <a:sym typeface="Public Sans"/>
              </a:rPr>
              <a:t>interface. </a:t>
            </a:r>
            <a:r>
              <a:rPr lang="en-US" b="true" sz="3199">
                <a:solidFill>
                  <a:srgbClr val="1800AD"/>
                </a:solidFill>
                <a:latin typeface="Public Sans Bold"/>
                <a:ea typeface="Public Sans Bold"/>
                <a:cs typeface="Public Sans Bold"/>
                <a:sym typeface="Public Sans Bold"/>
              </a:rPr>
              <a:t>TriggerManager</a:t>
            </a:r>
            <a:r>
              <a:rPr lang="en-US" sz="3199">
                <a:solidFill>
                  <a:srgbClr val="1800AD"/>
                </a:solidFill>
                <a:latin typeface="Public Sans"/>
                <a:ea typeface="Public Sans"/>
                <a:cs typeface="Public Sans"/>
                <a:sym typeface="Public Sans"/>
              </a:rPr>
              <a:t> invokes the same operation on all triggers, while each trigger executes its own specialized behavior.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4896312" y="1607448"/>
            <a:ext cx="8495375" cy="4545070"/>
          </a:xfrm>
          <a:custGeom>
            <a:avLst/>
            <a:gdLst/>
            <a:ahLst/>
            <a:cxnLst/>
            <a:rect r="r" b="b" t="t" l="l"/>
            <a:pathLst>
              <a:path h="4545070" w="8495375">
                <a:moveTo>
                  <a:pt x="0" y="0"/>
                </a:moveTo>
                <a:lnTo>
                  <a:pt x="8495376" y="0"/>
                </a:lnTo>
                <a:lnTo>
                  <a:pt x="8495376" y="4545070"/>
                </a:lnTo>
                <a:lnTo>
                  <a:pt x="0" y="4545070"/>
                </a:lnTo>
                <a:lnTo>
                  <a:pt x="0" y="0"/>
                </a:lnTo>
                <a:close/>
              </a:path>
            </a:pathLst>
          </a:custGeom>
          <a:blipFill>
            <a:blip r:embed="rId3"/>
            <a:stretch>
              <a:fillRect l="0" t="0" r="0" b="0"/>
            </a:stretch>
          </a:blipFill>
          <a:ln w="19050" cap="sq">
            <a:solidFill>
              <a:srgbClr val="000000"/>
            </a:solidFill>
            <a:prstDash val="solid"/>
            <a:miter/>
          </a:ln>
        </p:spPr>
      </p:sp>
      <p:sp>
        <p:nvSpPr>
          <p:cNvPr name="TextBox 5" id="5"/>
          <p:cNvSpPr txBox="true"/>
          <p:nvPr/>
        </p:nvSpPr>
        <p:spPr>
          <a:xfrm rot="0">
            <a:off x="1028700" y="148466"/>
            <a:ext cx="7322582"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Polymorphism</a:t>
            </a:r>
          </a:p>
        </p:txBody>
      </p:sp>
      <p:sp>
        <p:nvSpPr>
          <p:cNvPr name="TextBox 6" id="6"/>
          <p:cNvSpPr txBox="true"/>
          <p:nvPr/>
        </p:nvSpPr>
        <p:spPr>
          <a:xfrm rot="0">
            <a:off x="1028700" y="6434485"/>
            <a:ext cx="16230600" cy="2438380"/>
          </a:xfrm>
          <a:prstGeom prst="rect">
            <a:avLst/>
          </a:prstGeom>
        </p:spPr>
        <p:txBody>
          <a:bodyPr anchor="t" rtlCol="false" tIns="0" lIns="0" bIns="0" rIns="0">
            <a:spAutoFit/>
          </a:bodyPr>
          <a:lstStyle/>
          <a:p>
            <a:pPr algn="l" marL="690670" indent="-345335" lvl="1">
              <a:lnSpc>
                <a:spcPts val="3838"/>
              </a:lnSpc>
              <a:spcBef>
                <a:spcPct val="0"/>
              </a:spcBef>
              <a:buFont typeface="Arial"/>
              <a:buChar char="•"/>
            </a:pPr>
            <a:r>
              <a:rPr lang="en-US" sz="3199">
                <a:solidFill>
                  <a:srgbClr val="1800AD"/>
                </a:solidFill>
                <a:latin typeface="Public Sans"/>
                <a:ea typeface="Public Sans"/>
                <a:cs typeface="Public Sans"/>
                <a:sym typeface="Public Sans"/>
              </a:rPr>
              <a:t>For example: The</a:t>
            </a:r>
            <a:r>
              <a:rPr lang="en-US" sz="3199">
                <a:solidFill>
                  <a:srgbClr val="1800AD"/>
                </a:solidFill>
                <a:latin typeface="Public Sans"/>
                <a:ea typeface="Public Sans"/>
                <a:cs typeface="Public Sans"/>
                <a:sym typeface="Public Sans"/>
              </a:rPr>
              <a:t> game loop interacts only with the </a:t>
            </a:r>
            <a:r>
              <a:rPr lang="en-US" b="true" sz="3199">
                <a:solidFill>
                  <a:srgbClr val="1800AD"/>
                </a:solidFill>
                <a:latin typeface="Public Sans Bold"/>
                <a:ea typeface="Public Sans Bold"/>
                <a:cs typeface="Public Sans Bold"/>
                <a:sym typeface="Public Sans Bold"/>
              </a:rPr>
              <a:t>StateUpdater </a:t>
            </a:r>
            <a:r>
              <a:rPr lang="en-US" sz="3199">
                <a:solidFill>
                  <a:srgbClr val="1800AD"/>
                </a:solidFill>
                <a:latin typeface="Public Sans"/>
                <a:ea typeface="Public Sans"/>
                <a:cs typeface="Public Sans"/>
                <a:sym typeface="Public Sans"/>
              </a:rPr>
              <a:t>interface and does not need to know whether the curren</a:t>
            </a:r>
            <a:r>
              <a:rPr lang="en-US" sz="3199">
                <a:solidFill>
                  <a:srgbClr val="1800AD"/>
                </a:solidFill>
                <a:latin typeface="Public Sans"/>
                <a:ea typeface="Public Sans"/>
                <a:cs typeface="Public Sans"/>
                <a:sym typeface="Public Sans"/>
              </a:rPr>
              <a:t>t</a:t>
            </a:r>
            <a:r>
              <a:rPr lang="en-US" sz="3199">
                <a:solidFill>
                  <a:srgbClr val="1800AD"/>
                </a:solidFill>
                <a:latin typeface="Public Sans"/>
                <a:ea typeface="Public Sans"/>
                <a:cs typeface="Public Sans"/>
                <a:sym typeface="Public Sans"/>
              </a:rPr>
              <a:t> object is a </a:t>
            </a:r>
            <a:r>
              <a:rPr lang="en-US" b="true" sz="3199">
                <a:solidFill>
                  <a:srgbClr val="1800AD"/>
                </a:solidFill>
                <a:latin typeface="Public Sans Bold"/>
                <a:ea typeface="Public Sans Bold"/>
                <a:cs typeface="Public Sans Bold"/>
                <a:sym typeface="Public Sans Bold"/>
              </a:rPr>
              <a:t>MenuController</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HelpController</a:t>
            </a:r>
            <a:r>
              <a:rPr lang="en-US" sz="3199">
                <a:solidFill>
                  <a:srgbClr val="1800AD"/>
                </a:solidFill>
                <a:latin typeface="Public Sans"/>
                <a:ea typeface="Public Sans"/>
                <a:cs typeface="Public Sans"/>
                <a:sym typeface="Public Sans"/>
              </a:rPr>
              <a:t>, </a:t>
            </a:r>
            <a:r>
              <a:rPr lang="en-US" b="true" sz="3199">
                <a:solidFill>
                  <a:srgbClr val="1800AD"/>
                </a:solidFill>
                <a:latin typeface="Public Sans Bold"/>
                <a:ea typeface="Public Sans Bold"/>
                <a:cs typeface="Public Sans Bold"/>
                <a:sym typeface="Public Sans Bold"/>
              </a:rPr>
              <a:t>GameController</a:t>
            </a:r>
            <a:r>
              <a:rPr lang="en-US" sz="3199">
                <a:solidFill>
                  <a:srgbClr val="1800AD"/>
                </a:solidFill>
                <a:latin typeface="Public Sans"/>
                <a:ea typeface="Public Sans"/>
                <a:cs typeface="Public Sans"/>
                <a:sym typeface="Public Sans"/>
              </a:rPr>
              <a:t>, or </a:t>
            </a:r>
            <a:r>
              <a:rPr lang="en-US" b="true" sz="3199">
                <a:solidFill>
                  <a:srgbClr val="1800AD"/>
                </a:solidFill>
                <a:latin typeface="Public Sans Bold"/>
                <a:ea typeface="Public Sans Bold"/>
                <a:cs typeface="Public Sans Bold"/>
                <a:sym typeface="Public Sans Bold"/>
              </a:rPr>
              <a:t>ShopController</a:t>
            </a:r>
            <a:r>
              <a:rPr lang="en-US" sz="3199">
                <a:solidFill>
                  <a:srgbClr val="1800AD"/>
                </a:solidFill>
                <a:latin typeface="Public Sans"/>
                <a:ea typeface="Public Sans"/>
                <a:cs typeface="Public Sans"/>
                <a:sym typeface="Public Sans"/>
              </a:rPr>
              <a:t>. Based on the current game state, Java dynamically selects the appropriate controller implementation at runtime and invokes its update() method.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148466"/>
            <a:ext cx="6926104"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Composition</a:t>
            </a:r>
          </a:p>
        </p:txBody>
      </p:sp>
      <p:sp>
        <p:nvSpPr>
          <p:cNvPr name="TextBox 5" id="5"/>
          <p:cNvSpPr txBox="true"/>
          <p:nvPr/>
        </p:nvSpPr>
        <p:spPr>
          <a:xfrm rot="0">
            <a:off x="1028700" y="2903183"/>
            <a:ext cx="16230600" cy="4290134"/>
          </a:xfrm>
          <a:prstGeom prst="rect">
            <a:avLst/>
          </a:prstGeom>
        </p:spPr>
        <p:txBody>
          <a:bodyPr anchor="t" rtlCol="false" tIns="0" lIns="0" bIns="0" rIns="0">
            <a:spAutoFit/>
          </a:bodyPr>
          <a:lstStyle/>
          <a:p>
            <a:pPr algn="l" marL="690670" indent="-345335" lvl="1">
              <a:lnSpc>
                <a:spcPts val="5758"/>
              </a:lnSpc>
              <a:buFont typeface="Arial"/>
              <a:buChar char="•"/>
            </a:pPr>
            <a:r>
              <a:rPr lang="en-US" b="true" sz="3199">
                <a:solidFill>
                  <a:srgbClr val="1800AD"/>
                </a:solidFill>
                <a:latin typeface="Public Sans Bold"/>
                <a:ea typeface="Public Sans Bold"/>
                <a:cs typeface="Public Sans Bold"/>
                <a:sym typeface="Public Sans Bold"/>
              </a:rPr>
              <a:t>FarmGrid</a:t>
            </a:r>
            <a:r>
              <a:rPr lang="en-US" sz="3199">
                <a:solidFill>
                  <a:srgbClr val="1800AD"/>
                </a:solidFill>
                <a:latin typeface="Public Sans"/>
                <a:ea typeface="Public Sans"/>
                <a:cs typeface="Public Sans"/>
                <a:sym typeface="Public Sans"/>
              </a:rPr>
              <a:t> composes a 2D array of </a:t>
            </a:r>
            <a:r>
              <a:rPr lang="en-US" b="true" sz="3199">
                <a:solidFill>
                  <a:srgbClr val="1800AD"/>
                </a:solidFill>
                <a:latin typeface="Public Sans Bold"/>
                <a:ea typeface="Public Sans Bold"/>
                <a:cs typeface="Public Sans Bold"/>
                <a:sym typeface="Public Sans Bold"/>
              </a:rPr>
              <a:t>FarmC</a:t>
            </a:r>
            <a:r>
              <a:rPr lang="en-US" b="true" sz="3199">
                <a:solidFill>
                  <a:srgbClr val="1800AD"/>
                </a:solidFill>
                <a:latin typeface="Public Sans Bold"/>
                <a:ea typeface="Public Sans Bold"/>
                <a:cs typeface="Public Sans Bold"/>
                <a:sym typeface="Public Sans Bold"/>
              </a:rPr>
              <a:t>ell</a:t>
            </a:r>
            <a:r>
              <a:rPr lang="en-US" sz="3199">
                <a:solidFill>
                  <a:srgbClr val="1800AD"/>
                </a:solidFill>
                <a:latin typeface="Public Sans"/>
                <a:ea typeface="Public Sans"/>
                <a:cs typeface="Public Sans"/>
                <a:sym typeface="Public Sans"/>
              </a:rPr>
              <a:t> objects. Th</a:t>
            </a:r>
            <a:r>
              <a:rPr lang="en-US" sz="3199">
                <a:solidFill>
                  <a:srgbClr val="1800AD"/>
                </a:solidFill>
                <a:latin typeface="Public Sans"/>
                <a:ea typeface="Public Sans"/>
                <a:cs typeface="Public Sans"/>
                <a:sym typeface="Public Sans"/>
              </a:rPr>
              <a:t>e cells are created inside the </a:t>
            </a:r>
            <a:r>
              <a:rPr lang="en-US" b="true" sz="3199">
                <a:solidFill>
                  <a:srgbClr val="1800AD"/>
                </a:solidFill>
                <a:latin typeface="Public Sans Bold"/>
                <a:ea typeface="Public Sans Bold"/>
                <a:cs typeface="Public Sans Bold"/>
                <a:sym typeface="Public Sans Bold"/>
              </a:rPr>
              <a:t>FarmGrid</a:t>
            </a:r>
            <a:r>
              <a:rPr lang="en-US" sz="3199">
                <a:solidFill>
                  <a:srgbClr val="1800AD"/>
                </a:solidFill>
                <a:latin typeface="Public Sans"/>
                <a:ea typeface="Public Sans"/>
                <a:cs typeface="Public Sans"/>
                <a:sym typeface="Public Sans"/>
              </a:rPr>
              <a:t> constructor and exist only as part of the grid. </a:t>
            </a:r>
          </a:p>
          <a:p>
            <a:pPr algn="l" marL="690670" indent="-345335" lvl="1">
              <a:lnSpc>
                <a:spcPts val="5758"/>
              </a:lnSpc>
              <a:buFont typeface="Arial"/>
              <a:buChar char="•"/>
            </a:pPr>
            <a:r>
              <a:rPr lang="en-US" b="true" sz="3199">
                <a:solidFill>
                  <a:srgbClr val="1800AD"/>
                </a:solidFill>
                <a:latin typeface="Public Sans Bold"/>
                <a:ea typeface="Public Sans Bold"/>
                <a:cs typeface="Public Sans Bold"/>
                <a:sym typeface="Public Sans Bold"/>
              </a:rPr>
              <a:t>FarmGrid</a:t>
            </a:r>
            <a:r>
              <a:rPr lang="en-US" sz="3199">
                <a:solidFill>
                  <a:srgbClr val="1800AD"/>
                </a:solidFill>
                <a:latin typeface="Public Sans"/>
                <a:ea typeface="Public Sans"/>
                <a:cs typeface="Public Sans"/>
                <a:sym typeface="Public Sans"/>
              </a:rPr>
              <a:t> also composes a </a:t>
            </a:r>
            <a:r>
              <a:rPr lang="en-US" b="true" sz="3199">
                <a:solidFill>
                  <a:srgbClr val="1800AD"/>
                </a:solidFill>
                <a:latin typeface="Public Sans Bold"/>
                <a:ea typeface="Public Sans Bold"/>
                <a:cs typeface="Public Sans Bold"/>
                <a:sym typeface="Public Sans Bold"/>
              </a:rPr>
              <a:t>TriggerManager</a:t>
            </a:r>
            <a:r>
              <a:rPr lang="en-US" sz="3199">
                <a:solidFill>
                  <a:srgbClr val="1800AD"/>
                </a:solidFill>
                <a:latin typeface="Public Sans"/>
                <a:ea typeface="Public Sans"/>
                <a:cs typeface="Public Sans"/>
                <a:sym typeface="Public Sans"/>
              </a:rPr>
              <a:t>, which is instantiated and owned entirely by the grid. </a:t>
            </a:r>
          </a:p>
          <a:p>
            <a:pPr algn="l" marL="690670" indent="-345335" lvl="1">
              <a:lnSpc>
                <a:spcPts val="5758"/>
              </a:lnSpc>
              <a:buFont typeface="Arial"/>
              <a:buChar char="•"/>
            </a:pPr>
            <a:r>
              <a:rPr lang="en-US" b="true" sz="3199">
                <a:solidFill>
                  <a:srgbClr val="1800AD"/>
                </a:solidFill>
                <a:latin typeface="Public Sans Bold"/>
                <a:ea typeface="Public Sans Bold"/>
                <a:cs typeface="Public Sans Bold"/>
                <a:sym typeface="Public Sans Bold"/>
              </a:rPr>
              <a:t>TriggerManager</a:t>
            </a:r>
            <a:r>
              <a:rPr lang="en-US" sz="3199">
                <a:solidFill>
                  <a:srgbClr val="1800AD"/>
                </a:solidFill>
                <a:latin typeface="Public Sans"/>
                <a:ea typeface="Public Sans"/>
                <a:cs typeface="Public Sans"/>
                <a:sym typeface="Public Sans"/>
              </a:rPr>
              <a:t> composes multiple </a:t>
            </a:r>
            <a:r>
              <a:rPr lang="en-US" b="true" sz="3199">
                <a:solidFill>
                  <a:srgbClr val="1800AD"/>
                </a:solidFill>
                <a:latin typeface="Public Sans Bold"/>
                <a:ea typeface="Public Sans Bold"/>
                <a:cs typeface="Public Sans Bold"/>
                <a:sym typeface="Public Sans Bold"/>
              </a:rPr>
              <a:t>GameTrigger</a:t>
            </a:r>
            <a:r>
              <a:rPr lang="en-US" sz="3199">
                <a:solidFill>
                  <a:srgbClr val="1800AD"/>
                </a:solidFill>
                <a:latin typeface="Public Sans"/>
                <a:ea typeface="Public Sans"/>
                <a:cs typeface="Public Sans"/>
                <a:sym typeface="Public Sans"/>
              </a:rPr>
              <a:t> objects (</a:t>
            </a:r>
            <a:r>
              <a:rPr lang="en-US" b="true" sz="3199">
                <a:solidFill>
                  <a:srgbClr val="1800AD"/>
                </a:solidFill>
                <a:latin typeface="Public Sans Bold"/>
                <a:ea typeface="Public Sans Bold"/>
                <a:cs typeface="Public Sans Bold"/>
                <a:sym typeface="Public Sans Bold"/>
              </a:rPr>
              <a:t>PestTrigger</a:t>
            </a:r>
            <a:r>
              <a:rPr lang="en-US" sz="3199">
                <a:solidFill>
                  <a:srgbClr val="1800AD"/>
                </a:solidFill>
                <a:latin typeface="Public Sans"/>
                <a:ea typeface="Public Sans"/>
                <a:cs typeface="Public Sans"/>
                <a:sym typeface="Public Sans"/>
              </a:rPr>
              <a:t> and </a:t>
            </a:r>
            <a:r>
              <a:rPr lang="en-US" b="true" sz="3199">
                <a:solidFill>
                  <a:srgbClr val="1800AD"/>
                </a:solidFill>
                <a:latin typeface="Public Sans Bold"/>
                <a:ea typeface="Public Sans Bold"/>
                <a:cs typeface="Public Sans Bold"/>
                <a:sym typeface="Public Sans Bold"/>
              </a:rPr>
              <a:t>WeatherTriggers</a:t>
            </a:r>
            <a:r>
              <a:rPr lang="en-US" sz="3199">
                <a:solidFill>
                  <a:srgbClr val="1800AD"/>
                </a:solidFill>
                <a:latin typeface="Public Sans"/>
                <a:ea typeface="Public Sans"/>
                <a:cs typeface="Public Sans"/>
                <a:sym typeface="Public Sans"/>
              </a:rPr>
              <a:t>), creating and managing them internally.</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5223073" y="1428492"/>
            <a:ext cx="7841853" cy="5499351"/>
          </a:xfrm>
          <a:custGeom>
            <a:avLst/>
            <a:gdLst/>
            <a:ahLst/>
            <a:cxnLst/>
            <a:rect r="r" b="b" t="t" l="l"/>
            <a:pathLst>
              <a:path h="5499351" w="7841853">
                <a:moveTo>
                  <a:pt x="0" y="0"/>
                </a:moveTo>
                <a:lnTo>
                  <a:pt x="7841854" y="0"/>
                </a:lnTo>
                <a:lnTo>
                  <a:pt x="7841854" y="5499351"/>
                </a:lnTo>
                <a:lnTo>
                  <a:pt x="0" y="5499351"/>
                </a:lnTo>
                <a:lnTo>
                  <a:pt x="0" y="0"/>
                </a:lnTo>
                <a:close/>
              </a:path>
            </a:pathLst>
          </a:custGeom>
          <a:blipFill>
            <a:blip r:embed="rId3"/>
            <a:stretch>
              <a:fillRect l="0" t="0" r="0" b="0"/>
            </a:stretch>
          </a:blipFill>
          <a:ln w="19050" cap="sq">
            <a:solidFill>
              <a:srgbClr val="000000"/>
            </a:solidFill>
            <a:prstDash val="solid"/>
            <a:miter/>
          </a:ln>
        </p:spPr>
      </p:sp>
      <p:sp>
        <p:nvSpPr>
          <p:cNvPr name="TextBox 5" id="5"/>
          <p:cNvSpPr txBox="true"/>
          <p:nvPr/>
        </p:nvSpPr>
        <p:spPr>
          <a:xfrm rot="0">
            <a:off x="1028700" y="148466"/>
            <a:ext cx="6926104"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Composition</a:t>
            </a:r>
          </a:p>
        </p:txBody>
      </p:sp>
      <p:sp>
        <p:nvSpPr>
          <p:cNvPr name="TextBox 6" id="6"/>
          <p:cNvSpPr txBox="true"/>
          <p:nvPr/>
        </p:nvSpPr>
        <p:spPr>
          <a:xfrm rot="0">
            <a:off x="1028700" y="7104059"/>
            <a:ext cx="16230600" cy="1466830"/>
          </a:xfrm>
          <a:prstGeom prst="rect">
            <a:avLst/>
          </a:prstGeom>
        </p:spPr>
        <p:txBody>
          <a:bodyPr anchor="t" rtlCol="false" tIns="0" lIns="0" bIns="0" rIns="0">
            <a:spAutoFit/>
          </a:bodyPr>
          <a:lstStyle/>
          <a:p>
            <a:pPr algn="l" marL="690670" indent="-345335" lvl="1">
              <a:lnSpc>
                <a:spcPts val="3838"/>
              </a:lnSpc>
              <a:spcBef>
                <a:spcPct val="0"/>
              </a:spcBef>
              <a:buFont typeface="Arial"/>
              <a:buChar char="•"/>
            </a:pPr>
            <a:r>
              <a:rPr lang="en-US" sz="3199">
                <a:solidFill>
                  <a:srgbClr val="1800AD"/>
                </a:solidFill>
                <a:latin typeface="Public Sans"/>
                <a:ea typeface="Public Sans"/>
                <a:cs typeface="Public Sans"/>
                <a:sym typeface="Public Sans"/>
              </a:rPr>
              <a:t>For example: based on the code above, we can observe that it demonstrates </a:t>
            </a:r>
            <a:r>
              <a:rPr lang="en-US" b="true" sz="3199">
                <a:solidFill>
                  <a:srgbClr val="1800AD"/>
                </a:solidFill>
                <a:latin typeface="Public Sans Bold"/>
                <a:ea typeface="Public Sans Bold"/>
                <a:cs typeface="Public Sans Bold"/>
                <a:sym typeface="Public Sans Bold"/>
              </a:rPr>
              <a:t>Composition</a:t>
            </a:r>
            <a:r>
              <a:rPr lang="en-US" sz="3199">
                <a:solidFill>
                  <a:srgbClr val="1800AD"/>
                </a:solidFill>
                <a:latin typeface="Public Sans"/>
                <a:ea typeface="Public Sans"/>
                <a:cs typeface="Public Sans"/>
                <a:sym typeface="Public Sans"/>
              </a:rPr>
              <a:t> because the </a:t>
            </a:r>
            <a:r>
              <a:rPr lang="en-US" b="true" sz="3199">
                <a:solidFill>
                  <a:srgbClr val="1800AD"/>
                </a:solidFill>
                <a:latin typeface="Public Sans Bold"/>
                <a:ea typeface="Public Sans Bold"/>
                <a:cs typeface="Public Sans Bold"/>
                <a:sym typeface="Public Sans Bold"/>
              </a:rPr>
              <a:t>FarmGrid</a:t>
            </a:r>
            <a:r>
              <a:rPr lang="en-US" sz="3199">
                <a:solidFill>
                  <a:srgbClr val="1800AD"/>
                </a:solidFill>
                <a:latin typeface="Public Sans"/>
                <a:ea typeface="Public Sans"/>
                <a:cs typeface="Public Sans"/>
                <a:sym typeface="Public Sans"/>
              </a:rPr>
              <a:t> is responsible for the creation, ownership, and lifecycle of its cells, forming a strong whole-part relationship.</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8715430" y="1997455"/>
            <a:ext cx="8543870" cy="3303399"/>
          </a:xfrm>
          <a:custGeom>
            <a:avLst/>
            <a:gdLst/>
            <a:ahLst/>
            <a:cxnLst/>
            <a:rect r="r" b="b" t="t" l="l"/>
            <a:pathLst>
              <a:path h="3303399" w="8543870">
                <a:moveTo>
                  <a:pt x="0" y="0"/>
                </a:moveTo>
                <a:lnTo>
                  <a:pt x="8543870" y="0"/>
                </a:lnTo>
                <a:lnTo>
                  <a:pt x="8543870" y="3303399"/>
                </a:lnTo>
                <a:lnTo>
                  <a:pt x="0" y="3303399"/>
                </a:lnTo>
                <a:lnTo>
                  <a:pt x="0" y="0"/>
                </a:lnTo>
                <a:close/>
              </a:path>
            </a:pathLst>
          </a:custGeom>
          <a:blipFill>
            <a:blip r:embed="rId3"/>
            <a:stretch>
              <a:fillRect l="0" t="0" r="0" b="0"/>
            </a:stretch>
          </a:blipFill>
          <a:ln w="19050" cap="sq">
            <a:solidFill>
              <a:srgbClr val="000000"/>
            </a:solidFill>
            <a:prstDash val="solid"/>
            <a:miter/>
          </a:ln>
        </p:spPr>
      </p:sp>
      <p:sp>
        <p:nvSpPr>
          <p:cNvPr name="TextBox 5" id="5"/>
          <p:cNvSpPr txBox="true"/>
          <p:nvPr/>
        </p:nvSpPr>
        <p:spPr>
          <a:xfrm rot="0">
            <a:off x="1028700" y="148466"/>
            <a:ext cx="6810733"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Aggregation</a:t>
            </a:r>
          </a:p>
        </p:txBody>
      </p:sp>
      <p:sp>
        <p:nvSpPr>
          <p:cNvPr name="TextBox 6" id="6"/>
          <p:cNvSpPr txBox="true"/>
          <p:nvPr/>
        </p:nvSpPr>
        <p:spPr>
          <a:xfrm rot="0">
            <a:off x="1028700" y="5807814"/>
            <a:ext cx="16230600" cy="2438400"/>
          </a:xfrm>
          <a:prstGeom prst="rect">
            <a:avLst/>
          </a:prstGeom>
        </p:spPr>
        <p:txBody>
          <a:bodyPr anchor="t" rtlCol="false" tIns="0" lIns="0" bIns="0" rIns="0">
            <a:spAutoFit/>
          </a:bodyPr>
          <a:lstStyle/>
          <a:p>
            <a:pPr algn="l" marL="690670" indent="-345335" lvl="1">
              <a:lnSpc>
                <a:spcPts val="3838"/>
              </a:lnSpc>
              <a:buFont typeface="Arial"/>
              <a:buChar char="•"/>
            </a:pPr>
            <a:r>
              <a:rPr lang="en-US" b="true" sz="3199">
                <a:solidFill>
                  <a:srgbClr val="1800AD"/>
                </a:solidFill>
                <a:latin typeface="Public Sans Bold"/>
                <a:ea typeface="Public Sans Bold"/>
                <a:cs typeface="Public Sans Bold"/>
                <a:sym typeface="Public Sans Bold"/>
              </a:rPr>
              <a:t>W</a:t>
            </a:r>
            <a:r>
              <a:rPr lang="en-US" b="true" sz="3199">
                <a:solidFill>
                  <a:srgbClr val="1800AD"/>
                </a:solidFill>
                <a:latin typeface="Public Sans Bold"/>
                <a:ea typeface="Public Sans Bold"/>
                <a:cs typeface="Public Sans Bold"/>
                <a:sym typeface="Public Sans Bold"/>
              </a:rPr>
              <a:t>eatherTrigger</a:t>
            </a:r>
            <a:r>
              <a:rPr lang="en-US" sz="3199">
                <a:solidFill>
                  <a:srgbClr val="1800AD"/>
                </a:solidFill>
                <a:latin typeface="Public Sans"/>
                <a:ea typeface="Public Sans"/>
                <a:cs typeface="Public Sans"/>
                <a:sym typeface="Public Sans"/>
              </a:rPr>
              <a:t> aggregates </a:t>
            </a:r>
            <a:r>
              <a:rPr lang="en-US" b="true" sz="3199">
                <a:solidFill>
                  <a:srgbClr val="1800AD"/>
                </a:solidFill>
                <a:latin typeface="Public Sans Bold"/>
                <a:ea typeface="Public Sans Bold"/>
                <a:cs typeface="Public Sans Bold"/>
                <a:sym typeface="Public Sans Bold"/>
              </a:rPr>
              <a:t>Weather</a:t>
            </a:r>
            <a:r>
              <a:rPr lang="en-US" sz="3199">
                <a:solidFill>
                  <a:srgbClr val="1800AD"/>
                </a:solidFill>
                <a:latin typeface="Public Sans"/>
                <a:ea typeface="Public Sans"/>
                <a:cs typeface="Public Sans"/>
                <a:sym typeface="Public Sans"/>
              </a:rPr>
              <a:t> objects.</a:t>
            </a:r>
          </a:p>
          <a:p>
            <a:pPr algn="l">
              <a:lnSpc>
                <a:spcPts val="3838"/>
              </a:lnSpc>
            </a:pPr>
          </a:p>
          <a:p>
            <a:pPr algn="l" marL="690670" indent="-345335" lvl="1">
              <a:lnSpc>
                <a:spcPts val="3838"/>
              </a:lnSpc>
              <a:buFont typeface="Arial"/>
              <a:buChar char="•"/>
            </a:pPr>
            <a:r>
              <a:rPr lang="en-US" sz="3199">
                <a:solidFill>
                  <a:srgbClr val="1800AD"/>
                </a:solidFill>
                <a:latin typeface="Public Sans"/>
                <a:ea typeface="Public Sans"/>
                <a:cs typeface="Public Sans"/>
                <a:sym typeface="Public Sans"/>
              </a:rPr>
              <a:t>For example: As shown in the code above, </a:t>
            </a:r>
            <a:r>
              <a:rPr lang="en-US" b="true" sz="3199">
                <a:solidFill>
                  <a:srgbClr val="1800AD"/>
                </a:solidFill>
                <a:latin typeface="Public Sans Bold"/>
                <a:ea typeface="Public Sans Bold"/>
                <a:cs typeface="Public Sans Bold"/>
                <a:sym typeface="Public Sans Bold"/>
              </a:rPr>
              <a:t>Weather</a:t>
            </a:r>
            <a:r>
              <a:rPr lang="en-US" sz="3199">
                <a:solidFill>
                  <a:srgbClr val="1800AD"/>
                </a:solidFill>
                <a:latin typeface="Public Sans"/>
                <a:ea typeface="Public Sans"/>
                <a:cs typeface="Public Sans"/>
                <a:sym typeface="Public Sans"/>
              </a:rPr>
              <a:t> instances are created outside the </a:t>
            </a:r>
            <a:r>
              <a:rPr lang="en-US" b="true" sz="3199">
                <a:solidFill>
                  <a:srgbClr val="1800AD"/>
                </a:solidFill>
                <a:latin typeface="Public Sans Bold"/>
                <a:ea typeface="Public Sans Bold"/>
                <a:cs typeface="Public Sans Bold"/>
                <a:sym typeface="Public Sans Bold"/>
              </a:rPr>
              <a:t>WeatherTrigger</a:t>
            </a:r>
            <a:r>
              <a:rPr lang="en-US" sz="3199">
                <a:solidFill>
                  <a:srgbClr val="1800AD"/>
                </a:solidFill>
                <a:latin typeface="Public Sans"/>
                <a:ea typeface="Public Sans"/>
                <a:cs typeface="Public Sans"/>
                <a:sym typeface="Public Sans"/>
              </a:rPr>
              <a:t> and passed into its constructor. The </a:t>
            </a:r>
            <a:r>
              <a:rPr lang="en-US" b="true" sz="3199">
                <a:solidFill>
                  <a:srgbClr val="1800AD"/>
                </a:solidFill>
                <a:latin typeface="Public Sans Bold"/>
                <a:ea typeface="Public Sans Bold"/>
                <a:cs typeface="Public Sans Bold"/>
                <a:sym typeface="Public Sans Bold"/>
              </a:rPr>
              <a:t>WeatherTrigger</a:t>
            </a:r>
            <a:r>
              <a:rPr lang="en-US" sz="3199">
                <a:solidFill>
                  <a:srgbClr val="1800AD"/>
                </a:solidFill>
                <a:latin typeface="Public Sans"/>
                <a:ea typeface="Public Sans"/>
                <a:cs typeface="Public Sans"/>
                <a:sym typeface="Public Sans"/>
              </a:rPr>
              <a:t> only stores a reference and does not control the weather object's lifecycle.</a:t>
            </a:r>
          </a:p>
        </p:txBody>
      </p:sp>
      <p:sp>
        <p:nvSpPr>
          <p:cNvPr name="TextBox 7" id="7"/>
          <p:cNvSpPr txBox="true"/>
          <p:nvPr/>
        </p:nvSpPr>
        <p:spPr>
          <a:xfrm rot="0">
            <a:off x="1028700" y="2668090"/>
            <a:ext cx="5999127" cy="1952605"/>
          </a:xfrm>
          <a:prstGeom prst="rect">
            <a:avLst/>
          </a:prstGeom>
        </p:spPr>
        <p:txBody>
          <a:bodyPr anchor="t" rtlCol="false" tIns="0" lIns="0" bIns="0" rIns="0">
            <a:spAutoFit/>
          </a:bodyPr>
          <a:lstStyle/>
          <a:p>
            <a:pPr algn="l" marL="690670" indent="-345335" lvl="1">
              <a:lnSpc>
                <a:spcPts val="3838"/>
              </a:lnSpc>
              <a:spcBef>
                <a:spcPct val="0"/>
              </a:spcBef>
              <a:buFont typeface="Arial"/>
              <a:buChar char="•"/>
            </a:pPr>
            <a:r>
              <a:rPr lang="en-US" b="true" sz="3199">
                <a:solidFill>
                  <a:srgbClr val="1800AD"/>
                </a:solidFill>
                <a:latin typeface="Public Sans Bold"/>
                <a:ea typeface="Public Sans Bold"/>
                <a:cs typeface="Public Sans Bold"/>
                <a:sym typeface="Public Sans Bold"/>
              </a:rPr>
              <a:t>FarmCell</a:t>
            </a:r>
            <a:r>
              <a:rPr lang="en-US" sz="3199">
                <a:solidFill>
                  <a:srgbClr val="1800AD"/>
                </a:solidFill>
                <a:latin typeface="Public Sans"/>
                <a:ea typeface="Public Sans"/>
                <a:cs typeface="Public Sans"/>
                <a:sym typeface="Public Sans"/>
              </a:rPr>
              <a:t> </a:t>
            </a:r>
            <a:r>
              <a:rPr lang="en-US" sz="3199">
                <a:solidFill>
                  <a:srgbClr val="1800AD"/>
                </a:solidFill>
                <a:latin typeface="Public Sans"/>
                <a:ea typeface="Public Sans"/>
                <a:cs typeface="Public Sans"/>
                <a:sym typeface="Public Sans"/>
              </a:rPr>
              <a:t>aggregates </a:t>
            </a:r>
            <a:r>
              <a:rPr lang="en-US" b="true" sz="3199">
                <a:solidFill>
                  <a:srgbClr val="1800AD"/>
                </a:solidFill>
                <a:latin typeface="Public Sans Bold"/>
                <a:ea typeface="Public Sans Bold"/>
                <a:cs typeface="Public Sans Bold"/>
                <a:sym typeface="Public Sans Bold"/>
              </a:rPr>
              <a:t>Cell</a:t>
            </a:r>
            <a:r>
              <a:rPr lang="en-US" sz="3199">
                <a:solidFill>
                  <a:srgbClr val="1800AD"/>
                </a:solidFill>
                <a:latin typeface="Public Sans"/>
                <a:ea typeface="Public Sans"/>
                <a:cs typeface="Public Sans"/>
                <a:sym typeface="Public Sans"/>
              </a:rPr>
              <a:t> because a </a:t>
            </a:r>
            <a:r>
              <a:rPr lang="en-US" b="true" sz="3199">
                <a:solidFill>
                  <a:srgbClr val="1800AD"/>
                </a:solidFill>
                <a:latin typeface="Public Sans Bold"/>
                <a:ea typeface="Public Sans Bold"/>
                <a:cs typeface="Public Sans Bold"/>
                <a:sym typeface="Public Sans Bold"/>
              </a:rPr>
              <a:t>FarmCell</a:t>
            </a:r>
            <a:r>
              <a:rPr lang="en-US" sz="3199">
                <a:solidFill>
                  <a:srgbClr val="1800AD"/>
                </a:solidFill>
                <a:latin typeface="Public Sans"/>
                <a:ea typeface="Public Sans"/>
                <a:cs typeface="Public Sans"/>
                <a:sym typeface="Public Sans"/>
              </a:rPr>
              <a:t> holds a reference to a </a:t>
            </a:r>
            <a:r>
              <a:rPr lang="en-US" b="true" sz="3199">
                <a:solidFill>
                  <a:srgbClr val="1800AD"/>
                </a:solidFill>
                <a:latin typeface="Public Sans Bold"/>
                <a:ea typeface="Public Sans Bold"/>
                <a:cs typeface="Public Sans Bold"/>
                <a:sym typeface="Public Sans Bold"/>
              </a:rPr>
              <a:t>Crop</a:t>
            </a:r>
            <a:r>
              <a:rPr lang="en-US" sz="3199">
                <a:solidFill>
                  <a:srgbClr val="1800AD"/>
                </a:solidFill>
                <a:latin typeface="Public Sans"/>
                <a:ea typeface="Public Sans"/>
                <a:cs typeface="Public Sans"/>
                <a:sym typeface="Public Sans"/>
              </a:rPr>
              <a:t> but does not own its lifecycle.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Freeform 4" id="4"/>
          <p:cNvSpPr/>
          <p:nvPr/>
        </p:nvSpPr>
        <p:spPr>
          <a:xfrm flipH="false" flipV="false" rot="0">
            <a:off x="9617517" y="2385407"/>
            <a:ext cx="7641783" cy="5516185"/>
          </a:xfrm>
          <a:custGeom>
            <a:avLst/>
            <a:gdLst/>
            <a:ahLst/>
            <a:cxnLst/>
            <a:rect r="r" b="b" t="t" l="l"/>
            <a:pathLst>
              <a:path h="5516185" w="7641783">
                <a:moveTo>
                  <a:pt x="0" y="0"/>
                </a:moveTo>
                <a:lnTo>
                  <a:pt x="7641783" y="0"/>
                </a:lnTo>
                <a:lnTo>
                  <a:pt x="7641783" y="5516186"/>
                </a:lnTo>
                <a:lnTo>
                  <a:pt x="0" y="5516186"/>
                </a:lnTo>
                <a:lnTo>
                  <a:pt x="0" y="0"/>
                </a:lnTo>
                <a:close/>
              </a:path>
            </a:pathLst>
          </a:custGeom>
          <a:blipFill>
            <a:blip r:embed="rId3"/>
            <a:stretch>
              <a:fillRect l="0" t="0" r="0" b="0"/>
            </a:stretch>
          </a:blipFill>
          <a:ln w="19050" cap="sq">
            <a:solidFill>
              <a:srgbClr val="000000"/>
            </a:solidFill>
            <a:prstDash val="solid"/>
            <a:miter/>
          </a:ln>
        </p:spPr>
      </p:sp>
      <p:sp>
        <p:nvSpPr>
          <p:cNvPr name="TextBox 5" id="5"/>
          <p:cNvSpPr txBox="true"/>
          <p:nvPr/>
        </p:nvSpPr>
        <p:spPr>
          <a:xfrm rot="0">
            <a:off x="1028700" y="148466"/>
            <a:ext cx="6649879"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OOP Principles: Association</a:t>
            </a:r>
          </a:p>
        </p:txBody>
      </p:sp>
      <p:sp>
        <p:nvSpPr>
          <p:cNvPr name="TextBox 6" id="6"/>
          <p:cNvSpPr txBox="true"/>
          <p:nvPr/>
        </p:nvSpPr>
        <p:spPr>
          <a:xfrm rot="0">
            <a:off x="1028700" y="2356485"/>
            <a:ext cx="7653635" cy="5469255"/>
          </a:xfrm>
          <a:prstGeom prst="rect">
            <a:avLst/>
          </a:prstGeom>
        </p:spPr>
        <p:txBody>
          <a:bodyPr anchor="t" rtlCol="false" tIns="0" lIns="0" bIns="0" rIns="0">
            <a:spAutoFit/>
          </a:bodyPr>
          <a:lstStyle/>
          <a:p>
            <a:pPr algn="l" marL="690881" indent="-345440" lvl="1">
              <a:lnSpc>
                <a:spcPts val="4800"/>
              </a:lnSpc>
              <a:buFont typeface="Arial"/>
              <a:buChar char="•"/>
            </a:pPr>
            <a:r>
              <a:rPr lang="en-US" sz="3200">
                <a:solidFill>
                  <a:srgbClr val="1800AD"/>
                </a:solidFill>
                <a:latin typeface="Public Sans"/>
                <a:ea typeface="Public Sans"/>
                <a:cs typeface="Public Sans"/>
                <a:sym typeface="Public Sans"/>
              </a:rPr>
              <a:t>The </a:t>
            </a:r>
            <a:r>
              <a:rPr lang="en-US" b="true" sz="3200">
                <a:solidFill>
                  <a:srgbClr val="1800AD"/>
                </a:solidFill>
                <a:latin typeface="Public Sans Bold"/>
                <a:ea typeface="Public Sans Bold"/>
                <a:cs typeface="Public Sans Bold"/>
                <a:sym typeface="Public Sans Bold"/>
              </a:rPr>
              <a:t>GameContext </a:t>
            </a:r>
            <a:r>
              <a:rPr lang="en-US" sz="3200">
                <a:solidFill>
                  <a:srgbClr val="1800AD"/>
                </a:solidFill>
                <a:latin typeface="Public Sans"/>
                <a:ea typeface="Public Sans"/>
                <a:cs typeface="Public Sans"/>
                <a:sym typeface="Public Sans"/>
              </a:rPr>
              <a:t>class only holds references to the instances of other component classes (such as </a:t>
            </a:r>
            <a:r>
              <a:rPr lang="en-US" b="true" sz="3200">
                <a:solidFill>
                  <a:srgbClr val="1800AD"/>
                </a:solidFill>
                <a:latin typeface="Public Sans Bold"/>
                <a:ea typeface="Public Sans Bold"/>
                <a:cs typeface="Public Sans Bold"/>
                <a:sym typeface="Public Sans Bold"/>
              </a:rPr>
              <a:t>Screen</a:t>
            </a:r>
            <a:r>
              <a:rPr lang="en-US" sz="3200">
                <a:solidFill>
                  <a:srgbClr val="1800AD"/>
                </a:solidFill>
                <a:latin typeface="Public Sans"/>
                <a:ea typeface="Public Sans"/>
                <a:cs typeface="Public Sans"/>
                <a:sym typeface="Public Sans"/>
              </a:rPr>
              <a:t>, </a:t>
            </a:r>
            <a:r>
              <a:rPr lang="en-US" b="true" sz="3200">
                <a:solidFill>
                  <a:srgbClr val="1800AD"/>
                </a:solidFill>
                <a:latin typeface="Public Sans Bold"/>
                <a:ea typeface="Public Sans Bold"/>
                <a:cs typeface="Public Sans Bold"/>
                <a:sym typeface="Public Sans Bold"/>
              </a:rPr>
              <a:t>Mouse</a:t>
            </a:r>
            <a:r>
              <a:rPr lang="en-US" sz="3200">
                <a:solidFill>
                  <a:srgbClr val="1800AD"/>
                </a:solidFill>
                <a:latin typeface="Public Sans"/>
                <a:ea typeface="Public Sans"/>
                <a:cs typeface="Public Sans"/>
                <a:sym typeface="Public Sans"/>
              </a:rPr>
              <a:t>, </a:t>
            </a:r>
            <a:r>
              <a:rPr lang="en-US" b="true" sz="3200">
                <a:solidFill>
                  <a:srgbClr val="1800AD"/>
                </a:solidFill>
                <a:latin typeface="Public Sans Bold"/>
                <a:ea typeface="Public Sans Bold"/>
                <a:cs typeface="Public Sans Bold"/>
                <a:sym typeface="Public Sans Bold"/>
              </a:rPr>
              <a:t>Keyboard</a:t>
            </a:r>
            <a:r>
              <a:rPr lang="en-US" sz="3200">
                <a:solidFill>
                  <a:srgbClr val="1800AD"/>
                </a:solidFill>
                <a:latin typeface="Public Sans"/>
                <a:ea typeface="Public Sans"/>
                <a:cs typeface="Public Sans"/>
                <a:sym typeface="Public Sans"/>
              </a:rPr>
              <a:t>, and </a:t>
            </a:r>
            <a:r>
              <a:rPr lang="en-US" b="true" sz="3200">
                <a:solidFill>
                  <a:srgbClr val="1800AD"/>
                </a:solidFill>
                <a:latin typeface="Public Sans Bold"/>
                <a:ea typeface="Public Sans Bold"/>
                <a:cs typeface="Public Sans Bold"/>
                <a:sym typeface="Public Sans Bold"/>
              </a:rPr>
              <a:t>FarmGrid</a:t>
            </a:r>
            <a:r>
              <a:rPr lang="en-US" sz="3200">
                <a:solidFill>
                  <a:srgbClr val="1800AD"/>
                </a:solidFill>
                <a:latin typeface="Public Sans"/>
                <a:ea typeface="Public Sans"/>
                <a:cs typeface="Public Sans"/>
                <a:sym typeface="Public Sans"/>
              </a:rPr>
              <a:t>).</a:t>
            </a:r>
          </a:p>
          <a:p>
            <a:pPr algn="l" marL="690881" indent="-345440" lvl="1">
              <a:lnSpc>
                <a:spcPts val="4800"/>
              </a:lnSpc>
              <a:buFont typeface="Arial"/>
              <a:buChar char="•"/>
            </a:pPr>
            <a:r>
              <a:rPr lang="en-US" sz="3200">
                <a:solidFill>
                  <a:srgbClr val="1800AD"/>
                </a:solidFill>
                <a:latin typeface="Public Sans"/>
                <a:ea typeface="Public Sans"/>
                <a:cs typeface="Public Sans"/>
                <a:sym typeface="Public Sans"/>
              </a:rPr>
              <a:t>It does not create or deeply contain the internal logic of those components. This is a classic </a:t>
            </a:r>
            <a:r>
              <a:rPr lang="en-US" b="true" sz="3200">
                <a:solidFill>
                  <a:srgbClr val="1800AD"/>
                </a:solidFill>
                <a:latin typeface="Public Sans Bold"/>
                <a:ea typeface="Public Sans Bold"/>
                <a:cs typeface="Public Sans Bold"/>
                <a:sym typeface="Public Sans Bold"/>
              </a:rPr>
              <a:t>Association </a:t>
            </a:r>
            <a:r>
              <a:rPr lang="en-US" sz="3200">
                <a:solidFill>
                  <a:srgbClr val="1800AD"/>
                </a:solidFill>
                <a:latin typeface="Public Sans"/>
                <a:ea typeface="Public Sans"/>
                <a:cs typeface="Public Sans"/>
                <a:sym typeface="Public Sans"/>
              </a:rPr>
              <a:t>relationship based on object references.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148466"/>
            <a:ext cx="3561040"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Demo scenario</a:t>
            </a:r>
          </a:p>
        </p:txBody>
      </p:sp>
      <p:sp>
        <p:nvSpPr>
          <p:cNvPr name="TextBox 5" id="5"/>
          <p:cNvSpPr txBox="true"/>
          <p:nvPr/>
        </p:nvSpPr>
        <p:spPr>
          <a:xfrm rot="0">
            <a:off x="1028700" y="1781175"/>
            <a:ext cx="16230600" cy="6715125"/>
          </a:xfrm>
          <a:prstGeom prst="rect">
            <a:avLst/>
          </a:prstGeom>
        </p:spPr>
        <p:txBody>
          <a:bodyPr anchor="t" rtlCol="false" tIns="0" lIns="0" bIns="0" rIns="0">
            <a:spAutoFit/>
          </a:bodyPr>
          <a:lstStyle/>
          <a:p>
            <a:pPr algn="l">
              <a:lnSpc>
                <a:spcPts val="3358"/>
              </a:lnSpc>
            </a:pPr>
            <a:r>
              <a:rPr lang="en-US" sz="2799" b="true">
                <a:solidFill>
                  <a:srgbClr val="1800AD"/>
                </a:solidFill>
                <a:latin typeface="Public Sans Bold"/>
                <a:ea typeface="Public Sans Bold"/>
                <a:cs typeface="Public Sans Bold"/>
                <a:sym typeface="Public Sans Bold"/>
              </a:rPr>
              <a:t>1. Interface Overview</a:t>
            </a:r>
          </a:p>
          <a:p>
            <a:pPr algn="l" marL="604312" indent="-302156" lvl="1">
              <a:lnSpc>
                <a:spcPts val="3358"/>
              </a:lnSpc>
              <a:buFont typeface="Arial"/>
              <a:buChar char="•"/>
            </a:pPr>
            <a:r>
              <a:rPr lang="en-US" sz="2799">
                <a:solidFill>
                  <a:srgbClr val="1800AD"/>
                </a:solidFill>
                <a:latin typeface="Public Sans"/>
                <a:ea typeface="Public Sans"/>
                <a:cs typeface="Public Sans"/>
                <a:sym typeface="Public Sans"/>
              </a:rPr>
              <a:t>S</a:t>
            </a:r>
            <a:r>
              <a:rPr lang="en-US" sz="2799">
                <a:solidFill>
                  <a:srgbClr val="1800AD"/>
                </a:solidFill>
                <a:latin typeface="Public Sans"/>
                <a:ea typeface="Public Sans"/>
                <a:cs typeface="Public Sans"/>
                <a:sym typeface="Public Sans"/>
              </a:rPr>
              <a:t>tart: Click "Start Game" or press Enter.</a:t>
            </a:r>
          </a:p>
          <a:p>
            <a:pPr algn="l" marL="604312" indent="-302156" lvl="1">
              <a:lnSpc>
                <a:spcPts val="3358"/>
              </a:lnSpc>
              <a:buFont typeface="Arial"/>
              <a:buChar char="•"/>
            </a:pPr>
            <a:r>
              <a:rPr lang="en-US" sz="2799">
                <a:solidFill>
                  <a:srgbClr val="1800AD"/>
                </a:solidFill>
                <a:latin typeface="Public Sans"/>
                <a:ea typeface="Public Sans"/>
                <a:cs typeface="Public Sans"/>
                <a:sym typeface="Public Sans"/>
              </a:rPr>
              <a:t>L</a:t>
            </a:r>
            <a:r>
              <a:rPr lang="en-US" sz="2799">
                <a:solidFill>
                  <a:srgbClr val="1800AD"/>
                </a:solidFill>
                <a:latin typeface="Public Sans"/>
                <a:ea typeface="Public Sans"/>
                <a:cs typeface="Public Sans"/>
                <a:sym typeface="Public Sans"/>
              </a:rPr>
              <a:t>ayout: Top shows Weather/Messages and Balance/Day. Bottom-left shows cell info. Bottom-right has Tools, Triggers, and "Advance Day" button.</a:t>
            </a:r>
          </a:p>
          <a:p>
            <a:pPr algn="l">
              <a:lnSpc>
                <a:spcPts val="3358"/>
              </a:lnSpc>
            </a:pPr>
            <a:r>
              <a:rPr lang="en-US" sz="2799" b="true">
                <a:solidFill>
                  <a:srgbClr val="1800AD"/>
                </a:solidFill>
                <a:latin typeface="Public Sans Bold"/>
                <a:ea typeface="Public Sans Bold"/>
                <a:cs typeface="Public Sans Bold"/>
                <a:sym typeface="Public Sans Bold"/>
              </a:rPr>
              <a:t>2. Basic Farming Loop</a:t>
            </a:r>
          </a:p>
          <a:p>
            <a:pPr algn="l" marL="604312" indent="-302156" lvl="1">
              <a:lnSpc>
                <a:spcPts val="3358"/>
              </a:lnSpc>
              <a:buFont typeface="Arial"/>
              <a:buChar char="•"/>
            </a:pPr>
            <a:r>
              <a:rPr lang="en-US" sz="2799">
                <a:solidFill>
                  <a:srgbClr val="1800AD"/>
                </a:solidFill>
                <a:latin typeface="Public Sans"/>
                <a:ea typeface="Public Sans"/>
                <a:cs typeface="Public Sans"/>
                <a:sym typeface="Public Sans"/>
              </a:rPr>
              <a:t>P</a:t>
            </a:r>
            <a:r>
              <a:rPr lang="en-US" sz="2799">
                <a:solidFill>
                  <a:srgbClr val="1800AD"/>
                </a:solidFill>
                <a:latin typeface="Public Sans"/>
                <a:ea typeface="Public Sans"/>
                <a:cs typeface="Public Sans"/>
                <a:sym typeface="Public Sans"/>
              </a:rPr>
              <a:t>lant: Press P (Shop). Click to the cell or arrow keys and TAB to plant.</a:t>
            </a:r>
          </a:p>
          <a:p>
            <a:pPr algn="l" marL="604312" indent="-302156" lvl="1">
              <a:lnSpc>
                <a:spcPts val="3358"/>
              </a:lnSpc>
              <a:buFont typeface="Arial"/>
              <a:buChar char="•"/>
            </a:pPr>
            <a:r>
              <a:rPr lang="en-US" sz="2799">
                <a:solidFill>
                  <a:srgbClr val="1800AD"/>
                </a:solidFill>
                <a:latin typeface="Public Sans"/>
                <a:ea typeface="Public Sans"/>
                <a:cs typeface="Public Sans"/>
                <a:sym typeface="Public Sans"/>
              </a:rPr>
              <a:t>C</a:t>
            </a:r>
            <a:r>
              <a:rPr lang="en-US" sz="2799">
                <a:solidFill>
                  <a:srgbClr val="1800AD"/>
                </a:solidFill>
                <a:latin typeface="Public Sans"/>
                <a:ea typeface="Public Sans"/>
                <a:cs typeface="Public Sans"/>
                <a:sym typeface="Public Sans"/>
              </a:rPr>
              <a:t>are: Use Watering Can (3), Fertilizer (5), or Sword (4) to maintain cells.</a:t>
            </a:r>
          </a:p>
          <a:p>
            <a:pPr algn="l" marL="604312" indent="-302156" lvl="1">
              <a:lnSpc>
                <a:spcPts val="3358"/>
              </a:lnSpc>
              <a:spcBef>
                <a:spcPct val="0"/>
              </a:spcBef>
              <a:buFont typeface="Arial"/>
              <a:buChar char="•"/>
            </a:pPr>
            <a:r>
              <a:rPr lang="en-US" sz="2799">
                <a:solidFill>
                  <a:srgbClr val="1800AD"/>
                </a:solidFill>
                <a:latin typeface="Public Sans"/>
                <a:ea typeface="Public Sans"/>
                <a:cs typeface="Public Sans"/>
                <a:sym typeface="Public Sans"/>
              </a:rPr>
              <a:t>Grow: Click "Advance Day" or press Enter to pr</a:t>
            </a:r>
            <a:r>
              <a:rPr lang="en-US" sz="2799">
                <a:solidFill>
                  <a:srgbClr val="1800AD"/>
                </a:solidFill>
                <a:latin typeface="Public Sans"/>
                <a:ea typeface="Public Sans"/>
                <a:cs typeface="Public Sans"/>
                <a:sym typeface="Public Sans"/>
              </a:rPr>
              <a:t>ogress.</a:t>
            </a:r>
          </a:p>
          <a:p>
            <a:pPr algn="l" marL="604312" indent="-302156" lvl="1">
              <a:lnSpc>
                <a:spcPts val="3358"/>
              </a:lnSpc>
              <a:spcBef>
                <a:spcPct val="0"/>
              </a:spcBef>
              <a:buFont typeface="Arial"/>
              <a:buChar char="•"/>
            </a:pPr>
            <a:r>
              <a:rPr lang="en-US" sz="2799">
                <a:solidFill>
                  <a:srgbClr val="1800AD"/>
                </a:solidFill>
                <a:latin typeface="Public Sans"/>
                <a:ea typeface="Public Sans"/>
                <a:cs typeface="Public Sans"/>
                <a:sym typeface="Public Sans"/>
              </a:rPr>
              <a:t>Harvest: Use Harvest tool (2) on mature crops for profit, or to remove dead ones.</a:t>
            </a:r>
          </a:p>
          <a:p>
            <a:pPr algn="l">
              <a:lnSpc>
                <a:spcPts val="3358"/>
              </a:lnSpc>
              <a:spcBef>
                <a:spcPct val="0"/>
              </a:spcBef>
            </a:pPr>
            <a:r>
              <a:rPr lang="en-US" b="true" sz="2799">
                <a:solidFill>
                  <a:srgbClr val="1800AD"/>
                </a:solidFill>
                <a:latin typeface="Public Sans Bold"/>
                <a:ea typeface="Public Sans Bold"/>
                <a:cs typeface="Public Sans Bold"/>
                <a:sym typeface="Public Sans Bold"/>
              </a:rPr>
              <a:t>3. Challenges &amp; Failure</a:t>
            </a:r>
          </a:p>
          <a:p>
            <a:pPr algn="l" marL="604312" indent="-302156" lvl="1">
              <a:lnSpc>
                <a:spcPts val="3358"/>
              </a:lnSpc>
              <a:spcBef>
                <a:spcPct val="0"/>
              </a:spcBef>
              <a:buFont typeface="Arial"/>
              <a:buChar char="•"/>
            </a:pPr>
            <a:r>
              <a:rPr lang="en-US" sz="2799">
                <a:solidFill>
                  <a:srgbClr val="1800AD"/>
                </a:solidFill>
                <a:latin typeface="Public Sans"/>
                <a:ea typeface="Public Sans"/>
                <a:cs typeface="Public Sans"/>
                <a:sym typeface="Public Sans"/>
              </a:rPr>
              <a:t>Needs: Poor care or bad weather increases a crop's "stress days".</a:t>
            </a:r>
          </a:p>
          <a:p>
            <a:pPr algn="l" marL="604312" indent="-302156" lvl="1">
              <a:lnSpc>
                <a:spcPts val="3358"/>
              </a:lnSpc>
              <a:spcBef>
                <a:spcPct val="0"/>
              </a:spcBef>
              <a:buFont typeface="Arial"/>
              <a:buChar char="•"/>
            </a:pPr>
            <a:r>
              <a:rPr lang="en-US" sz="2799">
                <a:solidFill>
                  <a:srgbClr val="1800AD"/>
                </a:solidFill>
                <a:latin typeface="Public Sans"/>
                <a:ea typeface="Public Sans"/>
                <a:cs typeface="Public Sans"/>
                <a:sym typeface="Public Sans"/>
              </a:rPr>
              <a:t>Pests: Significantly lower crop tolerance.</a:t>
            </a:r>
          </a:p>
          <a:p>
            <a:pPr algn="l" marL="604312" indent="-302156" lvl="1">
              <a:lnSpc>
                <a:spcPts val="3358"/>
              </a:lnSpc>
              <a:spcBef>
                <a:spcPct val="0"/>
              </a:spcBef>
              <a:buFont typeface="Arial"/>
              <a:buChar char="•"/>
            </a:pPr>
            <a:r>
              <a:rPr lang="en-US" sz="2799">
                <a:solidFill>
                  <a:srgbClr val="1800AD"/>
                </a:solidFill>
                <a:latin typeface="Public Sans"/>
                <a:ea typeface="Public Sans"/>
                <a:cs typeface="Public Sans"/>
                <a:sym typeface="Public Sans"/>
              </a:rPr>
              <a:t>Death: Crops die permanently if their stress days exceed their tolerance limit.</a:t>
            </a:r>
          </a:p>
          <a:p>
            <a:pPr algn="l">
              <a:lnSpc>
                <a:spcPts val="3358"/>
              </a:lnSpc>
              <a:spcBef>
                <a:spcPct val="0"/>
              </a:spcBef>
            </a:pPr>
            <a:r>
              <a:rPr lang="en-US" b="true" sz="2799">
                <a:solidFill>
                  <a:srgbClr val="1800AD"/>
                </a:solidFill>
                <a:latin typeface="Public Sans Bold"/>
                <a:ea typeface="Public Sans Bold"/>
                <a:cs typeface="Public Sans Bold"/>
                <a:sym typeface="Public Sans Bold"/>
              </a:rPr>
              <a:t>4. Game End</a:t>
            </a:r>
          </a:p>
          <a:p>
            <a:pPr algn="l" marL="604312" indent="-302156" lvl="1">
              <a:lnSpc>
                <a:spcPts val="3358"/>
              </a:lnSpc>
              <a:spcBef>
                <a:spcPct val="0"/>
              </a:spcBef>
              <a:buFont typeface="Arial"/>
              <a:buChar char="•"/>
            </a:pPr>
            <a:r>
              <a:rPr lang="en-US" sz="2799">
                <a:solidFill>
                  <a:srgbClr val="1800AD"/>
                </a:solidFill>
                <a:latin typeface="Public Sans"/>
                <a:ea typeface="Public Sans"/>
                <a:cs typeface="Public Sans"/>
                <a:sym typeface="Public Sans"/>
              </a:rPr>
              <a:t>G</a:t>
            </a:r>
            <a:r>
              <a:rPr lang="en-US" sz="2799">
                <a:solidFill>
                  <a:srgbClr val="1800AD"/>
                </a:solidFill>
                <a:latin typeface="Public Sans"/>
                <a:ea typeface="Public Sans"/>
                <a:cs typeface="Public Sans"/>
                <a:sym typeface="Public Sans"/>
              </a:rPr>
              <a:t>oal: Manage resources wisely to expand and profit.</a:t>
            </a:r>
          </a:p>
          <a:p>
            <a:pPr algn="l" marL="604312" indent="-302156" lvl="1">
              <a:lnSpc>
                <a:spcPts val="3358"/>
              </a:lnSpc>
              <a:spcBef>
                <a:spcPct val="0"/>
              </a:spcBef>
              <a:buFont typeface="Arial"/>
              <a:buChar char="•"/>
            </a:pPr>
            <a:r>
              <a:rPr lang="en-US" sz="2799">
                <a:solidFill>
                  <a:srgbClr val="1800AD"/>
                </a:solidFill>
                <a:latin typeface="Public Sans"/>
                <a:ea typeface="Public Sans"/>
                <a:cs typeface="Public Sans"/>
                <a:sym typeface="Public Sans"/>
              </a:rPr>
              <a:t>Game Over: You only lose if you cannot afford the cheapest seed and have no living crops left.</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1028700" y="148466"/>
            <a:ext cx="6331148" cy="647675"/>
          </a:xfrm>
          <a:prstGeom prst="rect">
            <a:avLst/>
          </a:prstGeom>
        </p:spPr>
        <p:txBody>
          <a:bodyPr anchor="t" rtlCol="false" tIns="0" lIns="0" bIns="0" rIns="0">
            <a:spAutoFit/>
          </a:bodyPr>
          <a:lstStyle/>
          <a:p>
            <a:pPr algn="just">
              <a:lnSpc>
                <a:spcPts val="5039"/>
              </a:lnSpc>
            </a:pPr>
            <a:r>
              <a:rPr lang="en-US" sz="4199" b="true">
                <a:solidFill>
                  <a:srgbClr val="FFFFFF"/>
                </a:solidFill>
                <a:latin typeface="Lato Bold"/>
                <a:ea typeface="Lato Bold"/>
                <a:cs typeface="Lato Bold"/>
                <a:sym typeface="Lato Bold"/>
              </a:rPr>
              <a:t>Video link demo our game </a:t>
            </a:r>
          </a:p>
        </p:txBody>
      </p:sp>
      <p:sp>
        <p:nvSpPr>
          <p:cNvPr name="TextBox 5" id="5"/>
          <p:cNvSpPr txBox="true"/>
          <p:nvPr/>
        </p:nvSpPr>
        <p:spPr>
          <a:xfrm rot="0">
            <a:off x="1028700" y="3562350"/>
            <a:ext cx="16230600" cy="3152775"/>
          </a:xfrm>
          <a:prstGeom prst="rect">
            <a:avLst/>
          </a:prstGeom>
        </p:spPr>
        <p:txBody>
          <a:bodyPr anchor="t" rtlCol="false" tIns="0" lIns="0" bIns="0" rIns="0">
            <a:spAutoFit/>
          </a:bodyPr>
          <a:lstStyle/>
          <a:p>
            <a:pPr algn="l" marL="755438" indent="-377719" lvl="1">
              <a:lnSpc>
                <a:spcPts val="4198"/>
              </a:lnSpc>
              <a:buFont typeface="Arial"/>
              <a:buChar char="•"/>
            </a:pPr>
            <a:r>
              <a:rPr lang="en-US" b="true" sz="3499">
                <a:solidFill>
                  <a:srgbClr val="000000"/>
                </a:solidFill>
                <a:latin typeface="Public Sans Bold"/>
                <a:ea typeface="Public Sans Bold"/>
                <a:cs typeface="Public Sans Bold"/>
                <a:sym typeface="Public Sans Bold"/>
              </a:rPr>
              <a:t>Link Youtube</a:t>
            </a:r>
            <a:r>
              <a:rPr lang="en-US" sz="3499">
                <a:solidFill>
                  <a:srgbClr val="1800AD"/>
                </a:solidFill>
                <a:latin typeface="Public Sans"/>
                <a:ea typeface="Public Sans"/>
                <a:cs typeface="Public Sans"/>
                <a:sym typeface="Public Sans"/>
              </a:rPr>
              <a:t> : </a:t>
            </a:r>
            <a:r>
              <a:rPr lang="en-US" sz="3499" u="sng">
                <a:solidFill>
                  <a:srgbClr val="1800AD"/>
                </a:solidFill>
                <a:latin typeface="Public Sans"/>
                <a:ea typeface="Public Sans"/>
                <a:cs typeface="Public Sans"/>
                <a:sym typeface="Public Sans"/>
                <a:hlinkClick r:id="rId3" tooltip="https://www.youtube.com/watch?v=3BFZpLS1028"/>
              </a:rPr>
              <a:t>https://www.youtube.com/watch?v=3BFZpLS1028</a:t>
            </a:r>
          </a:p>
          <a:p>
            <a:pPr algn="l">
              <a:lnSpc>
                <a:spcPts val="4198"/>
              </a:lnSpc>
            </a:pPr>
          </a:p>
          <a:p>
            <a:pPr algn="l" marL="755438" indent="-377719" lvl="1">
              <a:lnSpc>
                <a:spcPts val="4198"/>
              </a:lnSpc>
              <a:buFont typeface="Arial"/>
              <a:buChar char="•"/>
            </a:pPr>
            <a:r>
              <a:rPr lang="en-US" b="true" sz="3499">
                <a:solidFill>
                  <a:srgbClr val="000000"/>
                </a:solidFill>
                <a:latin typeface="Public Sans Bold"/>
                <a:ea typeface="Public Sans Bold"/>
                <a:cs typeface="Public Sans Bold"/>
                <a:sym typeface="Public Sans Bold"/>
              </a:rPr>
              <a:t>Link Driver</a:t>
            </a:r>
            <a:r>
              <a:rPr lang="en-US" sz="3499">
                <a:solidFill>
                  <a:srgbClr val="1800AD"/>
                </a:solidFill>
                <a:latin typeface="Public Sans"/>
                <a:ea typeface="Public Sans"/>
                <a:cs typeface="Public Sans"/>
                <a:sym typeface="Public Sans"/>
              </a:rPr>
              <a:t> : </a:t>
            </a:r>
            <a:r>
              <a:rPr lang="en-US" sz="3499" u="sng">
                <a:solidFill>
                  <a:srgbClr val="1800AD"/>
                </a:solidFill>
                <a:latin typeface="Public Sans"/>
                <a:ea typeface="Public Sans"/>
                <a:cs typeface="Public Sans"/>
                <a:sym typeface="Public Sans"/>
                <a:hlinkClick r:id="rId4" tooltip="https://drive.google.com/file/d/1mfYjcHDg2fJgbQf9V5Ci76nD3oGNog35/view?usp=sharing"/>
              </a:rPr>
              <a:t>https://drive.google.com/file/d/1mfYjcHDg2fJgbQf9V5Ci76nD3oGNog35/view?usp=sharing</a:t>
            </a:r>
          </a:p>
          <a:p>
            <a:pPr algn="l">
              <a:lnSpc>
                <a:spcPts val="4198"/>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sp>
        <p:nvSpPr>
          <p:cNvPr name="TextBox 4" id="4"/>
          <p:cNvSpPr txBox="true"/>
          <p:nvPr/>
        </p:nvSpPr>
        <p:spPr>
          <a:xfrm rot="0">
            <a:off x="8500081" y="4540406"/>
            <a:ext cx="7950803" cy="1175014"/>
          </a:xfrm>
          <a:prstGeom prst="rect">
            <a:avLst/>
          </a:prstGeom>
        </p:spPr>
        <p:txBody>
          <a:bodyPr anchor="t" rtlCol="false" tIns="0" lIns="0" bIns="0" rIns="0">
            <a:spAutoFit/>
          </a:bodyPr>
          <a:lstStyle/>
          <a:p>
            <a:pPr algn="l">
              <a:lnSpc>
                <a:spcPts val="9720"/>
              </a:lnSpc>
            </a:pPr>
            <a:r>
              <a:rPr lang="en-US" sz="9000" b="true">
                <a:solidFill>
                  <a:srgbClr val="C00000"/>
                </a:solidFill>
                <a:latin typeface="Lato Bold"/>
                <a:ea typeface="Lato Bold"/>
                <a:cs typeface="Lato Bold"/>
                <a:sym typeface="Lato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DAHL0K0a1iU</dc:identifier>
  <dcterms:modified xsi:type="dcterms:W3CDTF">2011-08-01T06:04:30Z</dcterms:modified>
  <cp:revision>1</cp:revision>
  <dc:title>OOP 2025.2 Group 05 - Smart Farm</dc:title>
</cp:coreProperties>
</file>